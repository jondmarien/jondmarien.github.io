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3D2EF7-EF3A-4A19-9FE9-CEEB9F5D69EB}" v="13" dt="2025-08-29T22:35:23.1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98" autoAdjust="0"/>
    <p:restoredTop sz="94660"/>
  </p:normalViewPr>
  <p:slideViewPr>
    <p:cSldViewPr snapToGrid="0" snapToObjects="1">
      <p:cViewPr varScale="1">
        <p:scale>
          <a:sx n="125" d="100"/>
          <a:sy n="125" d="100"/>
        </p:scale>
        <p:origin x="762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1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4.png"/><Relationship Id="rId4" Type="http://schemas.openxmlformats.org/officeDocument/2006/relationships/image" Target="../media/image19.png"/><Relationship Id="rId9" Type="http://schemas.openxmlformats.org/officeDocument/2006/relationships/image" Target="../media/image2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png"/><Relationship Id="rId3" Type="http://schemas.openxmlformats.org/officeDocument/2006/relationships/image" Target="../media/image25.png"/><Relationship Id="rId7" Type="http://schemas.openxmlformats.org/officeDocument/2006/relationships/image" Target="../media/image28.png"/><Relationship Id="rId12" Type="http://schemas.openxmlformats.org/officeDocument/2006/relationships/image" Target="../media/image33.png"/><Relationship Id="rId2" Type="http://schemas.openxmlformats.org/officeDocument/2006/relationships/image" Target="../media/image6.png"/><Relationship Id="rId16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1.png"/><Relationship Id="rId15" Type="http://schemas.openxmlformats.org/officeDocument/2006/relationships/image" Target="../media/image36.png"/><Relationship Id="rId10" Type="http://schemas.openxmlformats.org/officeDocument/2006/relationships/image" Target="../media/image31.png"/><Relationship Id="rId4" Type="http://schemas.openxmlformats.org/officeDocument/2006/relationships/image" Target="../media/image26.png"/><Relationship Id="rId9" Type="http://schemas.openxmlformats.org/officeDocument/2006/relationships/image" Target="../media/image30.png"/><Relationship Id="rId14" Type="http://schemas.openxmlformats.org/officeDocument/2006/relationships/image" Target="../media/image3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39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41.png"/><Relationship Id="rId7" Type="http://schemas.openxmlformats.org/officeDocument/2006/relationships/image" Target="../media/image43.png"/><Relationship Id="rId12" Type="http://schemas.openxmlformats.org/officeDocument/2006/relationships/image" Target="../media/image47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46.png"/><Relationship Id="rId5" Type="http://schemas.openxmlformats.org/officeDocument/2006/relationships/image" Target="../media/image1.png"/><Relationship Id="rId10" Type="http://schemas.openxmlformats.org/officeDocument/2006/relationships/image" Target="../media/image45.png"/><Relationship Id="rId4" Type="http://schemas.openxmlformats.org/officeDocument/2006/relationships/image" Target="../media/image4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1.png"/><Relationship Id="rId7" Type="http://schemas.openxmlformats.org/officeDocument/2006/relationships/image" Target="../media/image57.png"/><Relationship Id="rId12" Type="http://schemas.openxmlformats.org/officeDocument/2006/relationships/image" Target="../media/image62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image" Target="../media/image61.png"/><Relationship Id="rId5" Type="http://schemas.openxmlformats.org/officeDocument/2006/relationships/image" Target="../media/image56.png"/><Relationship Id="rId10" Type="http://schemas.openxmlformats.org/officeDocument/2006/relationships/image" Target="../media/image60.png"/><Relationship Id="rId4" Type="http://schemas.openxmlformats.org/officeDocument/2006/relationships/image" Target="../media/image55.png"/><Relationship Id="rId9" Type="http://schemas.openxmlformats.org/officeDocument/2006/relationships/image" Target="../media/image5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4.png"/><Relationship Id="rId7" Type="http://schemas.openxmlformats.org/officeDocument/2006/relationships/image" Target="../media/image67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11" Type="http://schemas.openxmlformats.org/officeDocument/2006/relationships/image" Target="../media/image71.png"/><Relationship Id="rId5" Type="http://schemas.openxmlformats.org/officeDocument/2006/relationships/image" Target="../media/image1.png"/><Relationship Id="rId10" Type="http://schemas.openxmlformats.org/officeDocument/2006/relationships/image" Target="../media/image70.png"/><Relationship Id="rId4" Type="http://schemas.openxmlformats.org/officeDocument/2006/relationships/image" Target="../media/image65.png"/><Relationship Id="rId9" Type="http://schemas.openxmlformats.org/officeDocument/2006/relationships/image" Target="../media/image6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73.png"/><Relationship Id="rId7" Type="http://schemas.openxmlformats.org/officeDocument/2006/relationships/image" Target="../media/image1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1933574"/>
            <a:ext cx="6457788" cy="1371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4680"/>
              </a:lnSpc>
              <a:spcBef>
                <a:spcPts val="0"/>
              </a:spcBef>
              <a:spcAft>
                <a:spcPts val="1300"/>
              </a:spcAft>
            </a:pPr>
            <a:r>
              <a:rPr sz="3588" b="1">
                <a:solidFill>
                  <a:srgbClr val="BB86FC"/>
                </a:solidFill>
              </a:rPr>
              <a:t>Why UEFI Security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6733" y="3495675"/>
            <a:ext cx="6457788" cy="11430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1950"/>
              </a:spcAft>
            </a:pPr>
            <a:r>
              <a:rPr sz="1196" b="0">
                <a:solidFill>
                  <a:srgbClr val="E0E0E0"/>
                </a:solidFill>
              </a:rPr>
              <a:t>UEFI firmware runs before the operating system loads, creating a critical attack surface that traditional security solutions cannot protect against. Vulnerabilities at this level can lead to persistent malware that survives OS reinstalls and bypasses security measures.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505512" y="2381250"/>
            <a:ext cx="4019449" cy="2095499"/>
          </a:xfrm>
          <a:prstGeom prst="roundRect">
            <a:avLst>
              <a:gd name="adj" fmla="val 363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 Same Side Corner Rectangle 4"/>
          <p:cNvSpPr/>
          <p:nvPr/>
        </p:nvSpPr>
        <p:spPr>
          <a:xfrm rot="16200000">
            <a:off x="6523803" y="3362959"/>
            <a:ext cx="2095499" cy="1320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34106" y="2577465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105572" y="2571750"/>
            <a:ext cx="2466913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Runs at </a:t>
            </a:r>
            <a:r>
              <a:rPr sz="1076" b="1">
                <a:solidFill>
                  <a:srgbClr val="03DAC6"/>
                </a:solidFill>
              </a:rPr>
              <a:t>Ring -2</a:t>
            </a:r>
            <a:r>
              <a:rPr sz="1076" b="1">
                <a:solidFill>
                  <a:srgbClr val="FFFFFF"/>
                </a:solidFill>
              </a:rPr>
              <a:t> (highest privilege)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34106" y="2948940"/>
            <a:ext cx="228594" cy="21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105572" y="2952750"/>
            <a:ext cx="2162120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Controls </a:t>
            </a:r>
            <a:r>
              <a:rPr sz="1076" b="1">
                <a:solidFill>
                  <a:srgbClr val="03DAC6"/>
                </a:solidFill>
              </a:rPr>
              <a:t>Secure Boot</a:t>
            </a:r>
            <a:r>
              <a:rPr sz="1076" b="1">
                <a:solidFill>
                  <a:srgbClr val="FFFFFF"/>
                </a:solidFill>
              </a:rPr>
              <a:t> process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34106" y="3340417"/>
            <a:ext cx="228594" cy="17716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05572" y="3314700"/>
            <a:ext cx="212402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Direct access to </a:t>
            </a:r>
            <a:r>
              <a:rPr sz="1076" b="1">
                <a:solidFill>
                  <a:srgbClr val="03DAC6"/>
                </a:solidFill>
              </a:rPr>
              <a:t>all hardware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34106" y="3711892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05572" y="3695699"/>
            <a:ext cx="270503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Malware </a:t>
            </a:r>
            <a:r>
              <a:rPr sz="1076" b="1">
                <a:solidFill>
                  <a:srgbClr val="03DAC6"/>
                </a:solidFill>
              </a:rPr>
              <a:t>persists</a:t>
            </a:r>
            <a:r>
              <a:rPr sz="1076" b="1">
                <a:solidFill>
                  <a:srgbClr val="FFFFFF"/>
                </a:solidFill>
              </a:rPr>
              <a:t> across OS reinstalls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734106" y="4079081"/>
            <a:ext cx="228594" cy="185737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05572" y="4057650"/>
            <a:ext cx="2505012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FFFFFF"/>
                </a:solidFill>
              </a:rPr>
              <a:t>Invisible to </a:t>
            </a:r>
            <a:r>
              <a:rPr sz="1076" b="1">
                <a:solidFill>
                  <a:srgbClr val="03DAC6"/>
                </a:solidFill>
              </a:rPr>
              <a:t>OS-level</a:t>
            </a:r>
            <a:r>
              <a:rPr sz="1076" b="1">
                <a:solidFill>
                  <a:srgbClr val="FFFFFF"/>
                </a:solidFill>
              </a:rPr>
              <a:t> security tools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5000"/>
              </a:srgbClr>
            </a:gs>
            <a:gs pos="100000">
              <a:srgbClr val="242424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Understanding UEFI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4695707" cy="2733674"/>
          </a:xfrm>
          <a:prstGeom prst="roundRect">
            <a:avLst>
              <a:gd name="adj" fmla="val 5574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8000" y="1457517"/>
            <a:ext cx="4116321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What is UEFI?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33525"/>
            <a:ext cx="22859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52" y="1962149"/>
            <a:ext cx="421946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3DAC6"/>
                </a:solidFill>
              </a:rPr>
              <a:t>Unified Extensible Firmware Interface</a:t>
            </a:r>
            <a:r>
              <a:rPr sz="1076" b="0">
                <a:solidFill>
                  <a:srgbClr val="FFFFFF"/>
                </a:solidFill>
              </a:rPr>
              <a:t> - modern replacement for legacy BIOS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590799"/>
            <a:ext cx="421946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Firmware interface between operating system and platform firmware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3219449"/>
            <a:ext cx="421946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Provides standardized environment for booting an OS and running pre-boot applications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162425"/>
            <a:ext cx="4695707" cy="2540776"/>
          </a:xfrm>
          <a:prstGeom prst="roundRect">
            <a:avLst>
              <a:gd name="adj" fmla="val 3245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8000" y="4381692"/>
            <a:ext cx="4116321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UEFI vs. BIOS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4485074"/>
            <a:ext cx="228594" cy="228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3431" y="1238249"/>
            <a:ext cx="5781530" cy="5619751"/>
          </a:xfrm>
          <a:prstGeom prst="roundRect">
            <a:avLst>
              <a:gd name="adj" fmla="val 2635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16542" y="1457517"/>
            <a:ext cx="5170300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UEFI Boot Process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550" y="1533525"/>
            <a:ext cx="285742" cy="228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981550" y="196214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81550" y="1962149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164" y="1962149"/>
            <a:ext cx="487667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SEC (Security)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0164" y="2266950"/>
            <a:ext cx="4876678" cy="228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Initial platform startup, CPU reset, chipset initialization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81550" y="263842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81550" y="2638425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164" y="2638425"/>
            <a:ext cx="487667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PEI (Pre-EFI Initialization)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0164" y="2943225"/>
            <a:ext cx="4876678" cy="228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Memory initialization, temporary RAM setup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81550" y="331470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1550" y="3314700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164" y="3314700"/>
            <a:ext cx="487667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DXE (Driver Execution Environment)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164" y="3619499"/>
            <a:ext cx="4876678" cy="228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Permanent memory setup, driver dispatching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81550" y="399097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981550" y="3990974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10164" y="3990974"/>
            <a:ext cx="487667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BDS (Boot Device Selection)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10164" y="4295774"/>
            <a:ext cx="4876678" cy="228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Boot policy enforcement, boot option selection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1550" y="466724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981550" y="4667249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0164" y="4667249"/>
            <a:ext cx="487667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RT (Runtime)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0164" y="4972050"/>
            <a:ext cx="4876678" cy="2286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Handoff to OS, runtime services available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81550" y="5238749"/>
            <a:ext cx="5305292" cy="1581149"/>
          </a:xfrm>
          <a:prstGeom prst="roundRect">
            <a:avLst>
              <a:gd name="adj" fmla="val 9638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84800" y="5314589"/>
            <a:ext cx="4959170" cy="3436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196" b="1" dirty="0">
                <a:solidFill>
                  <a:srgbClr val="03DAC6"/>
                </a:solidFill>
              </a:rPr>
              <a:t> Security Features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164" y="5414963"/>
            <a:ext cx="190495" cy="190499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16542" y="5787038"/>
            <a:ext cx="133346" cy="133349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333966" y="5724525"/>
            <a:ext cx="790555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Secure Boot</a:t>
            </a:r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15017" y="5772149"/>
            <a:ext cx="133346" cy="133349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524561" y="5724525"/>
            <a:ext cx="981050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Measured Boot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86582" y="5772149"/>
            <a:ext cx="133346" cy="13334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8896127" y="5724525"/>
            <a:ext cx="104772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TPM Integration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4421" y="6076950"/>
            <a:ext cx="133346" cy="133349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333966" y="6029324"/>
            <a:ext cx="1628734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Firmware Authentication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53196" y="6076950"/>
            <a:ext cx="133346" cy="133349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362740" y="6029324"/>
            <a:ext cx="151443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Platform Key Hierarchy</a:t>
            </a:r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24421" y="6381749"/>
            <a:ext cx="133346" cy="133349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6333966" y="6334125"/>
            <a:ext cx="1095347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FFFFFF"/>
                </a:solidFill>
              </a:rPr>
              <a:t>SMM Protections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5000"/>
              </a:srgbClr>
            </a:gs>
            <a:gs pos="100000">
              <a:srgbClr val="242424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CPU Protection Rings and Privilege Levels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4695707" cy="2733674"/>
          </a:xfrm>
          <a:prstGeom prst="roundRect">
            <a:avLst>
              <a:gd name="adj" fmla="val 5574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09625" y="1457517"/>
            <a:ext cx="4114696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What Are Protection Rings?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33525"/>
            <a:ext cx="22859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52" y="1962149"/>
            <a:ext cx="4219469" cy="7715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Hierarchical privilege levels in CPU architecture that enforce </a:t>
            </a:r>
            <a:r>
              <a:rPr sz="1076" b="1">
                <a:solidFill>
                  <a:srgbClr val="03DAC6"/>
                </a:solidFill>
              </a:rPr>
              <a:t>access control</a:t>
            </a:r>
            <a:r>
              <a:rPr sz="1076" b="0">
                <a:solidFill>
                  <a:srgbClr val="FFFFFF"/>
                </a:solidFill>
              </a:rPr>
              <a:t> and protect critical system resources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847974"/>
            <a:ext cx="4219469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Lower numbers = </a:t>
            </a:r>
            <a:r>
              <a:rPr sz="1076" b="1">
                <a:solidFill>
                  <a:srgbClr val="CF6679"/>
                </a:solidFill>
              </a:rPr>
              <a:t>higher privilege</a:t>
            </a:r>
            <a:r>
              <a:rPr sz="1076" b="0">
                <a:solidFill>
                  <a:srgbClr val="FFFFFF"/>
                </a:solidFill>
              </a:rPr>
              <a:t> and more system 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3219449"/>
            <a:ext cx="421946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Each ring has restrictions on memory access and CPU instructions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162424"/>
            <a:ext cx="4695707" cy="2666998"/>
          </a:xfrm>
          <a:prstGeom prst="roundRect">
            <a:avLst>
              <a:gd name="adj" fmla="val 3587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9625" y="4381692"/>
            <a:ext cx="4114696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Ring Privileges &amp; Functions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4457700"/>
            <a:ext cx="228594" cy="22860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743431" y="1238249"/>
            <a:ext cx="5781530" cy="5591173"/>
          </a:xfrm>
          <a:prstGeom prst="roundRect">
            <a:avLst>
              <a:gd name="adj" fmla="val 2635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96000" y="1457517"/>
            <a:ext cx="5190842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Privilege Hierarchy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1550" y="1533525"/>
            <a:ext cx="257168" cy="228600"/>
          </a:xfrm>
          <a:prstGeom prst="rect">
            <a:avLst/>
          </a:prstGeom>
        </p:spPr>
      </p:pic>
      <p:sp>
        <p:nvSpPr>
          <p:cNvPr id="30" name="Rounded Rectangle 29"/>
          <p:cNvSpPr/>
          <p:nvPr/>
        </p:nvSpPr>
        <p:spPr>
          <a:xfrm>
            <a:off x="5981550" y="4467223"/>
            <a:ext cx="5305292" cy="2362199"/>
          </a:xfrm>
          <a:prstGeom prst="roundRect">
            <a:avLst>
              <a:gd name="adj" fmla="val 6451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257767" y="4628789"/>
            <a:ext cx="4838579" cy="34362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196" b="1" dirty="0">
                <a:solidFill>
                  <a:srgbClr val="03DAC6"/>
                </a:solidFill>
              </a:rPr>
              <a:t> Security Implications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72045" y="4705349"/>
            <a:ext cx="190495" cy="190499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045" y="5067298"/>
            <a:ext cx="85722" cy="133349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353016" y="5038723"/>
            <a:ext cx="4743331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Ring -2 (SMM)</a:t>
            </a:r>
            <a:r>
              <a:rPr sz="956" b="0">
                <a:solidFill>
                  <a:srgbClr val="FFFFFF"/>
                </a:solidFill>
              </a:rPr>
              <a:t> operates above OS visibility, making exploits extremely difficult to detect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045" y="5600699"/>
            <a:ext cx="85722" cy="13334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353016" y="5572124"/>
            <a:ext cx="4743331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Compromise at </a:t>
            </a:r>
            <a:r>
              <a:rPr sz="956" b="1">
                <a:solidFill>
                  <a:srgbClr val="03DAC6"/>
                </a:solidFill>
              </a:rPr>
              <a:t>higher privilege rings</a:t>
            </a:r>
            <a:r>
              <a:rPr sz="956" b="0">
                <a:solidFill>
                  <a:srgbClr val="FFFFFF"/>
                </a:solidFill>
              </a:rPr>
              <a:t> can bypass all lower-level security controls 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72045" y="6134098"/>
            <a:ext cx="85722" cy="133349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353016" y="6105523"/>
            <a:ext cx="4743331" cy="4572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SMM code</a:t>
            </a:r>
            <a:r>
              <a:rPr sz="956" b="0">
                <a:solidFill>
                  <a:srgbClr val="FFFFFF"/>
                </a:solidFill>
              </a:rPr>
              <a:t> has unrestricted access to all physical memory, hardware, and CPU state </a:t>
            </a:r>
          </a:p>
        </p:txBody>
      </p:sp>
      <p:pic>
        <p:nvPicPr>
          <p:cNvPr id="40" name="Picture 39" descr="A diagram of a diagram of different colors">
            <a:extLst>
              <a:ext uri="{FF2B5EF4-FFF2-40B4-BE49-F238E27FC236}">
                <a16:creationId xmlns:a16="http://schemas.microsoft.com/office/drawing/2014/main" id="{0F61ED87-9518-2229-8163-28CEFF85BD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1468" y="1914524"/>
            <a:ext cx="4244132" cy="2388840"/>
          </a:xfrm>
          <a:prstGeom prst="rect">
            <a:avLst/>
          </a:prstGeom>
        </p:spPr>
      </p:pic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2EFE7C5B-4F29-5C77-DFE1-13CE3B43E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7831361"/>
              </p:ext>
            </p:extLst>
          </p:nvPr>
        </p:nvGraphicFramePr>
        <p:xfrm>
          <a:off x="904852" y="4755356"/>
          <a:ext cx="4179600" cy="2057400"/>
        </p:xfrm>
        <a:graphic>
          <a:graphicData uri="http://schemas.openxmlformats.org/drawingml/2006/table">
            <a:tbl>
              <a:tblPr/>
              <a:tblGrid>
                <a:gridCol w="1393200">
                  <a:extLst>
                    <a:ext uri="{9D8B030D-6E8A-4147-A177-3AD203B41FA5}">
                      <a16:colId xmlns:a16="http://schemas.microsoft.com/office/drawing/2014/main" val="3039750039"/>
                    </a:ext>
                  </a:extLst>
                </a:gridCol>
                <a:gridCol w="1393200">
                  <a:extLst>
                    <a:ext uri="{9D8B030D-6E8A-4147-A177-3AD203B41FA5}">
                      <a16:colId xmlns:a16="http://schemas.microsoft.com/office/drawing/2014/main" val="1380257270"/>
                    </a:ext>
                  </a:extLst>
                </a:gridCol>
                <a:gridCol w="1393200">
                  <a:extLst>
                    <a:ext uri="{9D8B030D-6E8A-4147-A177-3AD203B41FA5}">
                      <a16:colId xmlns:a16="http://schemas.microsoft.com/office/drawing/2014/main" val="3557303085"/>
                    </a:ext>
                  </a:extLst>
                </a:gridCol>
              </a:tblGrid>
              <a:tr h="219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Privilege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6388085"/>
                  </a:ext>
                </a:extLst>
              </a:tr>
              <a:tr h="511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rgbClr val="FF0000"/>
                          </a:solidFill>
                        </a:rPr>
                        <a:t>Ring 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rgbClr val="FF0000"/>
                          </a:solidFill>
                        </a:rPr>
                        <a:t>Highest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rgbClr val="FF0000"/>
                          </a:solidFill>
                        </a:rPr>
                        <a:t>System Management Mode (SMM)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7801622"/>
                  </a:ext>
                </a:extLst>
              </a:tr>
              <a:tr h="219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Ring 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Hypervisor / VMM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9814635"/>
                  </a:ext>
                </a:extLst>
              </a:tr>
              <a:tr h="219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Ring 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5">
                              <a:lumMod val="60000"/>
                              <a:lumOff val="40000"/>
                            </a:schemeClr>
                          </a:solidFill>
                        </a:rPr>
                        <a:t>OS Kernel / Drivers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3590901"/>
                  </a:ext>
                </a:extLst>
              </a:tr>
              <a:tr h="365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Ring 1 &amp;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Medium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4">
                              <a:lumMod val="60000"/>
                              <a:lumOff val="40000"/>
                            </a:schemeClr>
                          </a:solidFill>
                        </a:rPr>
                        <a:t>Device Drivers (rarely used)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435313"/>
                  </a:ext>
                </a:extLst>
              </a:tr>
              <a:tr h="2191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Ring 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Lowest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User Applications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527923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5000"/>
              </a:srgbClr>
            </a:gs>
            <a:gs pos="100000">
              <a:srgbClr val="242424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Rootkits and Bootkits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019549" cy="5529751"/>
          </a:xfrm>
          <a:prstGeom prst="roundRect">
            <a:avLst>
              <a:gd name="adj" fmla="val 303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86400" y="1457517"/>
            <a:ext cx="4461763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Types of Malicious Kits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33525"/>
            <a:ext cx="228594" cy="2286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04852" y="1962149"/>
            <a:ext cx="2200219" cy="1285875"/>
          </a:xfrm>
          <a:prstGeom prst="roundRect">
            <a:avLst>
              <a:gd name="adj" fmla="val 11851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47723" y="2105024"/>
            <a:ext cx="1914477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0E0E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E0E0E0"/>
                </a:solidFill>
              </a:rPr>
              <a:t> Rootkits 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47723" y="2152650"/>
            <a:ext cx="171445" cy="1904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47723" y="2466975"/>
            <a:ext cx="1914477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Malicious software designed to </a:t>
            </a:r>
            <a:r>
              <a:rPr sz="956" b="1">
                <a:solidFill>
                  <a:srgbClr val="03DAC6"/>
                </a:solidFill>
              </a:rPr>
              <a:t>hide its existence</a:t>
            </a:r>
            <a:r>
              <a:rPr sz="956" b="0">
                <a:solidFill>
                  <a:srgbClr val="CCCCCC"/>
                </a:solidFill>
              </a:rPr>
              <a:t> while maintaining privileged access 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7943" y="1962149"/>
            <a:ext cx="2200219" cy="1285875"/>
          </a:xfrm>
          <a:prstGeom prst="roundRect">
            <a:avLst>
              <a:gd name="adj" fmla="val 11851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90815" y="2105024"/>
            <a:ext cx="1914477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0E0E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E0E0E0"/>
                </a:solidFill>
              </a:rPr>
              <a:t> Bootkits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0815" y="2152650"/>
            <a:ext cx="190495" cy="190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390815" y="2466975"/>
            <a:ext cx="1914477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Malware that infects the </a:t>
            </a:r>
            <a:r>
              <a:rPr sz="956" b="1">
                <a:solidFill>
                  <a:srgbClr val="CF6679"/>
                </a:solidFill>
              </a:rPr>
              <a:t>boot process</a:t>
            </a:r>
            <a:r>
              <a:rPr sz="956" b="0">
                <a:solidFill>
                  <a:srgbClr val="CCCCCC"/>
                </a:solidFill>
              </a:rPr>
              <a:t> to load before the operating system 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4852" y="3390899"/>
            <a:ext cx="2200219" cy="1285875"/>
          </a:xfrm>
          <a:prstGeom prst="roundRect">
            <a:avLst>
              <a:gd name="adj" fmla="val 11851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47723" y="3533774"/>
            <a:ext cx="1914477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0E0E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E0E0E0"/>
                </a:solidFill>
              </a:rPr>
              <a:t> Firmware Kits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47723" y="3581400"/>
            <a:ext cx="190495" cy="1904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47723" y="3895724"/>
            <a:ext cx="1914477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Malware embedded in </a:t>
            </a:r>
            <a:r>
              <a:rPr sz="956" b="1">
                <a:solidFill>
                  <a:srgbClr val="CF6679"/>
                </a:solidFill>
              </a:rPr>
              <a:t>UEFI firmware</a:t>
            </a:r>
            <a:r>
              <a:rPr sz="956" b="0">
                <a:solidFill>
                  <a:srgbClr val="CCCCCC"/>
                </a:solidFill>
              </a:rPr>
              <a:t> that survives OS reinstallation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47943" y="3390899"/>
            <a:ext cx="2200219" cy="1285875"/>
          </a:xfrm>
          <a:prstGeom prst="roundRect">
            <a:avLst>
              <a:gd name="adj" fmla="val 11851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90815" y="3533774"/>
            <a:ext cx="1914477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0E0E0"/>
                </a:solidFill>
              </a:rPr>
              <a:t> </a:t>
            </a:r>
            <a:r>
              <a:rPr sz="1104"/>
              <a:t>  </a:t>
            </a:r>
            <a:r>
              <a:rPr sz="1196" b="1">
                <a:solidFill>
                  <a:srgbClr val="E0E0E0"/>
                </a:solidFill>
              </a:rPr>
              <a:t> Kernel Kits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90815" y="3581400"/>
            <a:ext cx="219069" cy="190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390815" y="3895724"/>
            <a:ext cx="1914477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Malware operating at </a:t>
            </a:r>
            <a:r>
              <a:rPr sz="956" b="1">
                <a:solidFill>
                  <a:srgbClr val="03DAC6"/>
                </a:solidFill>
              </a:rPr>
              <a:t>Ring 0</a:t>
            </a:r>
            <a:r>
              <a:rPr sz="956" b="0">
                <a:solidFill>
                  <a:srgbClr val="CCCCCC"/>
                </a:solidFill>
              </a:rPr>
              <a:t> with full system access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67273" y="1238249"/>
            <a:ext cx="5457688" cy="5529751"/>
          </a:xfrm>
          <a:prstGeom prst="roundRect">
            <a:avLst>
              <a:gd name="adj" fmla="val 2792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10164" y="1457517"/>
            <a:ext cx="4876678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UEFI Rootkits &amp; </a:t>
            </a:r>
            <a:r>
              <a:rPr sz="1435" b="1" dirty="0" err="1">
                <a:solidFill>
                  <a:srgbClr val="03DAC6"/>
                </a:solidFill>
              </a:rPr>
              <a:t>Bootkits</a:t>
            </a:r>
            <a:r>
              <a:rPr sz="1435" b="1" dirty="0">
                <a:solidFill>
                  <a:srgbClr val="03DAC6"/>
                </a:solidFill>
              </a:rPr>
              <a:t>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05392" y="1533525"/>
            <a:ext cx="228594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305392" y="1962149"/>
            <a:ext cx="4981450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UEFI rootkits represent the </a:t>
            </a:r>
            <a:r>
              <a:rPr sz="956" b="1">
                <a:solidFill>
                  <a:srgbClr val="CF6679"/>
                </a:solidFill>
              </a:rPr>
              <a:t>most dangerous</a:t>
            </a:r>
            <a:r>
              <a:rPr sz="956" b="0">
                <a:solidFill>
                  <a:srgbClr val="CCCCCC"/>
                </a:solidFill>
              </a:rPr>
              <a:t> class of firmware malware, operating at the lowest level of system execution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5392" y="2533649"/>
            <a:ext cx="2428814" cy="866775"/>
          </a:xfrm>
          <a:prstGeom prst="roundRect">
            <a:avLst>
              <a:gd name="adj" fmla="val 1318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9689" y="2667000"/>
            <a:ext cx="171445" cy="17145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686382" y="2647949"/>
            <a:ext cx="1933526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Invisible to OS</a:t>
            </a:r>
            <a:r>
              <a:rPr sz="956" b="0">
                <a:solidFill>
                  <a:srgbClr val="FFFFFF"/>
                </a:solidFill>
              </a:rPr>
              <a:t> - operates below operating system visibility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58028" y="2533649"/>
            <a:ext cx="2428814" cy="866775"/>
          </a:xfrm>
          <a:prstGeom prst="roundRect">
            <a:avLst>
              <a:gd name="adj" fmla="val 1318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72325" y="2667000"/>
            <a:ext cx="171445" cy="17145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239019" y="2647949"/>
            <a:ext cx="193352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Survives reformatting</a:t>
            </a:r>
            <a:r>
              <a:rPr sz="956" b="0">
                <a:solidFill>
                  <a:srgbClr val="FFFFFF"/>
                </a:solidFill>
              </a:rPr>
              <a:t> - persists across OS reinstalls 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5392" y="3514725"/>
            <a:ext cx="2428814" cy="866775"/>
          </a:xfrm>
          <a:prstGeom prst="roundRect">
            <a:avLst>
              <a:gd name="adj" fmla="val 1318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19689" y="3648074"/>
            <a:ext cx="171445" cy="17145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686382" y="3629025"/>
            <a:ext cx="193352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Bypasses Secure Boot</a:t>
            </a:r>
            <a:r>
              <a:rPr sz="956" b="0">
                <a:solidFill>
                  <a:srgbClr val="FFFFFF"/>
                </a:solidFill>
              </a:rPr>
              <a:t> - can disable security mechanisms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58028" y="3514725"/>
            <a:ext cx="2428814" cy="866775"/>
          </a:xfrm>
          <a:prstGeom prst="roundRect">
            <a:avLst>
              <a:gd name="adj" fmla="val 13186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972325" y="3648074"/>
            <a:ext cx="171445" cy="17145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9239019" y="3629025"/>
            <a:ext cx="1933526" cy="638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Full system control</a:t>
            </a:r>
            <a:r>
              <a:rPr sz="956" b="0">
                <a:solidFill>
                  <a:srgbClr val="FFFFFF"/>
                </a:solidFill>
              </a:rPr>
              <a:t> - complete access to hardware and memory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10164" y="4553142"/>
            <a:ext cx="4876678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Persistence Mechanisms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05392" y="4629150"/>
            <a:ext cx="228594" cy="228600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05392" y="5076825"/>
            <a:ext cx="104772" cy="1714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505412" y="5057775"/>
            <a:ext cx="4781430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03DAC6"/>
                </a:solidFill>
              </a:rPr>
              <a:t>UEFI Variable Corruption</a:t>
            </a:r>
            <a:r>
              <a:rPr sz="956" b="0">
                <a:solidFill>
                  <a:srgbClr val="FFFFFF"/>
                </a:solidFill>
              </a:rPr>
              <a:t> - Modifying NVRAM variables to maintain persistence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05392" y="5619750"/>
            <a:ext cx="104772" cy="1714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6505412" y="5600700"/>
            <a:ext cx="4143271" cy="209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03DAC6"/>
                </a:solidFill>
              </a:rPr>
              <a:t>DXE Driver Infection</a:t>
            </a:r>
            <a:r>
              <a:rPr sz="956" b="0">
                <a:solidFill>
                  <a:srgbClr val="FFFFFF"/>
                </a:solidFill>
              </a:rPr>
              <a:t> - Infecting UEFI drivers that load during boot </a:t>
            </a:r>
          </a:p>
        </p:txBody>
      </p:sp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05392" y="5943600"/>
            <a:ext cx="104772" cy="17145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505412" y="5924549"/>
            <a:ext cx="4162320" cy="209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03DAC6"/>
                </a:solidFill>
              </a:rPr>
              <a:t>SPI Flash Modification</a:t>
            </a:r>
            <a:r>
              <a:rPr sz="956" b="0">
                <a:solidFill>
                  <a:srgbClr val="FFFFFF"/>
                </a:solidFill>
              </a:rPr>
              <a:t> - Directly modifying firmware on flash chip </a:t>
            </a:r>
          </a:p>
        </p:txBody>
      </p:sp>
      <p:pic>
        <p:nvPicPr>
          <p:cNvPr id="46" name="Picture 4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305392" y="6276975"/>
            <a:ext cx="104772" cy="17145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6505412" y="6257925"/>
            <a:ext cx="4162320" cy="209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FFFFFF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SMM Code Injection</a:t>
            </a:r>
            <a:r>
              <a:rPr sz="956" b="0">
                <a:solidFill>
                  <a:srgbClr val="FFFFFF"/>
                </a:solidFill>
              </a:rPr>
              <a:t> - Exploiting SMM vulnerabilities for execution </a:t>
            </a:r>
          </a:p>
        </p:txBody>
      </p:sp>
      <p:graphicFrame>
        <p:nvGraphicFramePr>
          <p:cNvPr id="49" name="Table 48">
            <a:extLst>
              <a:ext uri="{FF2B5EF4-FFF2-40B4-BE49-F238E27FC236}">
                <a16:creationId xmlns:a16="http://schemas.microsoft.com/office/drawing/2014/main" id="{8E256CD0-C347-AE1B-2047-3710594A5D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5871495"/>
              </p:ext>
            </p:extLst>
          </p:nvPr>
        </p:nvGraphicFramePr>
        <p:xfrm>
          <a:off x="904852" y="5015705"/>
          <a:ext cx="4584083" cy="1432720"/>
        </p:xfrm>
        <a:graphic>
          <a:graphicData uri="http://schemas.openxmlformats.org/drawingml/2006/table">
            <a:tbl>
              <a:tblPr/>
              <a:tblGrid>
                <a:gridCol w="1510183">
                  <a:extLst>
                    <a:ext uri="{9D8B030D-6E8A-4147-A177-3AD203B41FA5}">
                      <a16:colId xmlns:a16="http://schemas.microsoft.com/office/drawing/2014/main" val="1332471895"/>
                    </a:ext>
                  </a:extLst>
                </a:gridCol>
                <a:gridCol w="1536950">
                  <a:extLst>
                    <a:ext uri="{9D8B030D-6E8A-4147-A177-3AD203B41FA5}">
                      <a16:colId xmlns:a16="http://schemas.microsoft.com/office/drawing/2014/main" val="1318202673"/>
                    </a:ext>
                  </a:extLst>
                </a:gridCol>
                <a:gridCol w="1536950">
                  <a:extLst>
                    <a:ext uri="{9D8B030D-6E8A-4147-A177-3AD203B41FA5}">
                      <a16:colId xmlns:a16="http://schemas.microsoft.com/office/drawing/2014/main" val="3004828011"/>
                    </a:ext>
                  </a:extLst>
                </a:gridCol>
              </a:tblGrid>
              <a:tr h="2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kern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100" b="1" kern="12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Rootkits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457200" rtl="0" eaLnBrk="1" latinLnBrk="0" hangingPunct="1">
                        <a:buNone/>
                      </a:pPr>
                      <a:r>
                        <a:rPr lang="en-CA" sz="1100" b="1" kern="1200" dirty="0" err="1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Bootkits</a:t>
                      </a:r>
                      <a:endParaRPr lang="en-CA" sz="1100" b="1" kern="1200" dirty="0">
                        <a:solidFill>
                          <a:schemeClr val="accent6">
                            <a:lumMod val="60000"/>
                            <a:lumOff val="4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490238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Activation Time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After OS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rgbClr val="FF0000"/>
                          </a:solidFill>
                        </a:rPr>
                        <a:t>Before OS loads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59618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Persistence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File system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rgbClr val="FF0000"/>
                          </a:solidFill>
                        </a:rPr>
                        <a:t>Boot sector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8900339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Detection Difficulty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rgbClr val="FF0000"/>
                          </a:solidFill>
                        </a:rPr>
                        <a:t>Very High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5091194"/>
                  </a:ext>
                </a:extLst>
              </a:tr>
              <a:tr h="2865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3">
                              <a:lumMod val="75000"/>
                            </a:schemeClr>
                          </a:solidFill>
                        </a:rPr>
                        <a:t>Removal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chemeClr val="accent6">
                              <a:lumMod val="75000"/>
                            </a:schemeClr>
                          </a:solidFill>
                        </a:rPr>
                        <a:t>OS reinstall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1200" b="1" dirty="0">
                          <a:solidFill>
                            <a:srgbClr val="FF0000"/>
                          </a:solidFill>
                        </a:rPr>
                        <a:t>Firmware reflash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194533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5000"/>
              </a:srgbClr>
            </a:gs>
            <a:gs pos="100000">
              <a:srgbClr val="242424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System Management Mode (SMM) Security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4695707" cy="2733674"/>
          </a:xfrm>
          <a:prstGeom prst="roundRect">
            <a:avLst>
              <a:gd name="adj" fmla="val 5574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852" y="1476375"/>
            <a:ext cx="4219469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What is SMM?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33525"/>
            <a:ext cx="228594" cy="228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04852" y="1962149"/>
            <a:ext cx="4219469" cy="7715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03DAC6"/>
                </a:solidFill>
              </a:rPr>
              <a:t>System Management Mode</a:t>
            </a:r>
            <a:r>
              <a:rPr sz="1076" b="0">
                <a:solidFill>
                  <a:srgbClr val="FFFFFF"/>
                </a:solidFill>
              </a:rPr>
              <a:t> - A special-purpose execution mode in x86 CPUs that operates at the </a:t>
            </a:r>
            <a:r>
              <a:rPr sz="1076" b="1">
                <a:solidFill>
                  <a:srgbClr val="CF6679"/>
                </a:solidFill>
              </a:rPr>
              <a:t>highest privilege level</a:t>
            </a:r>
            <a:r>
              <a:rPr sz="1076" b="0">
                <a:solidFill>
                  <a:srgbClr val="FFFFFF"/>
                </a:solidFill>
              </a:rPr>
              <a:t> (Ring -2)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4852" y="2847974"/>
            <a:ext cx="4219469" cy="5143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Designed to handle system-wide functions like power management and hardware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4852" y="3476624"/>
            <a:ext cx="4219469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78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Completely </a:t>
            </a:r>
            <a:r>
              <a:rPr sz="1076" b="1">
                <a:solidFill>
                  <a:srgbClr val="CF6679"/>
                </a:solidFill>
              </a:rPr>
              <a:t>transparent to the OS</a:t>
            </a:r>
            <a:r>
              <a:rPr sz="1076" b="0">
                <a:solidFill>
                  <a:srgbClr val="FFFFFF"/>
                </a:solidFill>
              </a:rPr>
              <a:t> and all other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6733" y="4162424"/>
            <a:ext cx="4695707" cy="2629090"/>
          </a:xfrm>
          <a:prstGeom prst="roundRect">
            <a:avLst>
              <a:gd name="adj" fmla="val 3245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90575" y="4262628"/>
            <a:ext cx="4133746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SMM Purposes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4387048"/>
            <a:ext cx="228594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28663" y="4740143"/>
            <a:ext cx="171445" cy="190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19169" y="4562475"/>
            <a:ext cx="391467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03DAC6"/>
                </a:solidFill>
              </a:rPr>
              <a:t>Power Management</a:t>
            </a:r>
            <a:r>
              <a:rPr sz="1076" b="0" dirty="0">
                <a:solidFill>
                  <a:srgbClr val="FFFFFF"/>
                </a:solidFill>
              </a:rPr>
              <a:t> - Thermal control, fan speed, sleep states 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14377" y="5086349"/>
            <a:ext cx="219069" cy="19049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57268" y="4938522"/>
            <a:ext cx="386705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Hardware Control</a:t>
            </a:r>
            <a:r>
              <a:rPr sz="1076" b="0">
                <a:solidFill>
                  <a:srgbClr val="FFFFFF"/>
                </a:solidFill>
              </a:rPr>
              <a:t> - Emulating missing hardware features 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28663" y="5486399"/>
            <a:ext cx="190495" cy="19049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257268" y="5450775"/>
            <a:ext cx="3828954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03DAC6"/>
                </a:solidFill>
              </a:rPr>
              <a:t>System Management</a:t>
            </a:r>
            <a:r>
              <a:rPr sz="1076" b="0" dirty="0">
                <a:solidFill>
                  <a:srgbClr val="FFFFFF"/>
                </a:solidFill>
              </a:rPr>
              <a:t> - OEM-specific system functions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935048" y="5838824"/>
            <a:ext cx="190495" cy="19049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268415" y="5838824"/>
            <a:ext cx="3286042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03DAC6"/>
                </a:solidFill>
              </a:rPr>
              <a:t>Error Handling</a:t>
            </a:r>
            <a:r>
              <a:rPr sz="1076" b="0" dirty="0">
                <a:solidFill>
                  <a:srgbClr val="FFFFFF"/>
                </a:solidFill>
              </a:rPr>
              <a:t> - Critical system error recovery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28662" y="6236023"/>
            <a:ext cx="190495" cy="19049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268415" y="6236023"/>
            <a:ext cx="352416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03DAC6"/>
                </a:solidFill>
              </a:rPr>
              <a:t>Security Functions</a:t>
            </a:r>
            <a:r>
              <a:rPr sz="1076" b="0" dirty="0">
                <a:solidFill>
                  <a:srgbClr val="FFFFFF"/>
                </a:solidFill>
              </a:rPr>
              <a:t> - TPM operations, secure boot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43431" y="1238249"/>
            <a:ext cx="5781530" cy="2828925"/>
          </a:xfrm>
          <a:prstGeom prst="roundRect">
            <a:avLst>
              <a:gd name="adj" fmla="val 5387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95846" y="1457517"/>
            <a:ext cx="5190995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Why SMM is a Security Concern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81550" y="1533525"/>
            <a:ext cx="228594" cy="2286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81550" y="1981199"/>
            <a:ext cx="171445" cy="19049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286342" y="196214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CF6679"/>
                </a:solidFill>
              </a:rPr>
              <a:t>Invisible to OS</a:t>
            </a:r>
            <a:r>
              <a:rPr sz="1076" b="0">
                <a:solidFill>
                  <a:srgbClr val="FFFFFF"/>
                </a:solidFill>
              </a:rPr>
              <a:t> - No visibility or control from operating system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981550" y="2362199"/>
            <a:ext cx="171445" cy="19049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86342" y="2238279"/>
            <a:ext cx="5000499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CF6679"/>
                </a:solidFill>
              </a:rPr>
              <a:t>Unrestricted Access</a:t>
            </a:r>
            <a:r>
              <a:rPr sz="1076" b="0" dirty="0">
                <a:solidFill>
                  <a:srgbClr val="FFFFFF"/>
                </a:solidFill>
              </a:rPr>
              <a:t> - Complete control over all physical memory and hardware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5981550" y="2773935"/>
            <a:ext cx="190495" cy="19049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305392" y="2628804"/>
            <a:ext cx="497192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CF6679"/>
                </a:solidFill>
              </a:rPr>
              <a:t>Bypasses Protections</a:t>
            </a:r>
            <a:r>
              <a:rPr sz="1076" b="0" dirty="0">
                <a:solidFill>
                  <a:srgbClr val="FFFFFF"/>
                </a:solidFill>
              </a:rPr>
              <a:t> - Circumvents OS security, hypervisors, and Secure Boot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981550" y="3195411"/>
            <a:ext cx="171445" cy="19049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305392" y="3138392"/>
            <a:ext cx="4743331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CF6679"/>
                </a:solidFill>
              </a:rPr>
              <a:t>Complex Code</a:t>
            </a:r>
            <a:r>
              <a:rPr sz="1076" b="0" dirty="0">
                <a:solidFill>
                  <a:srgbClr val="FFFFFF"/>
                </a:solidFill>
              </a:rPr>
              <a:t> - Difficult to audit and often contains vulnerabilities 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743431" y="4191189"/>
            <a:ext cx="5781530" cy="2600325"/>
          </a:xfrm>
          <a:prstGeom prst="roundRect">
            <a:avLst>
              <a:gd name="adj" fmla="val 2735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1574" y="4010024"/>
            <a:ext cx="5305292" cy="6858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Why Arbitrary Code Execution in SMM is Extremely Dangerous 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27751" y="4562523"/>
            <a:ext cx="2381850" cy="704849"/>
          </a:xfrm>
          <a:prstGeom prst="roundRect">
            <a:avLst>
              <a:gd name="adj" fmla="val 16216"/>
            </a:avLst>
          </a:prstGeom>
          <a:solidFill>
            <a:srgbClr val="CF667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6142048" y="4695874"/>
            <a:ext cx="285742" cy="22860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6570663" y="4559209"/>
            <a:ext cx="1838938" cy="7114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CF6679"/>
                </a:solidFill>
              </a:rPr>
              <a:t>Persistence</a:t>
            </a:r>
            <a:r>
              <a:rPr sz="1076" b="0" dirty="0">
                <a:solidFill>
                  <a:srgbClr val="FFFFFF"/>
                </a:solidFill>
              </a:rPr>
              <a:t> - Malware survives OS reinstallation and hard drive wipes 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66873" y="4562523"/>
            <a:ext cx="2381850" cy="704849"/>
          </a:xfrm>
          <a:prstGeom prst="roundRect">
            <a:avLst>
              <a:gd name="adj" fmla="val 16216"/>
            </a:avLst>
          </a:prstGeom>
          <a:solidFill>
            <a:srgbClr val="CF667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8781170" y="4695873"/>
            <a:ext cx="228594" cy="22860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152636" y="4559209"/>
            <a:ext cx="1896087" cy="7114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CF6679"/>
                </a:solidFill>
              </a:rPr>
              <a:t>Full System Control</a:t>
            </a:r>
            <a:r>
              <a:rPr sz="1076" b="0">
                <a:solidFill>
                  <a:srgbClr val="FFFFFF"/>
                </a:solidFill>
              </a:rPr>
              <a:t> - Complete access to encryption keys, passwords, and all data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66872" y="5415845"/>
            <a:ext cx="2381851" cy="704849"/>
          </a:xfrm>
          <a:prstGeom prst="roundRect">
            <a:avLst>
              <a:gd name="adj" fmla="val 16216"/>
            </a:avLst>
          </a:prstGeom>
          <a:solidFill>
            <a:srgbClr val="CF667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885683" y="5439668"/>
            <a:ext cx="30" cy="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dirty="0">
                <a:solidFill>
                  <a:srgbClr val="CF6679"/>
                </a:solidFill>
              </a:rPr>
              <a:t>•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3630" y="5395716"/>
            <a:ext cx="2241486" cy="7114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</a:t>
            </a:r>
            <a:r>
              <a:rPr sz="1076" b="1" dirty="0">
                <a:solidFill>
                  <a:srgbClr val="CF6679"/>
                </a:solidFill>
              </a:rPr>
              <a:t>Network Compromise</a:t>
            </a:r>
            <a:r>
              <a:rPr sz="1076" b="0" dirty="0">
                <a:solidFill>
                  <a:srgbClr val="FFFFFF"/>
                </a:solidFill>
              </a:rPr>
              <a:t> - Can establish covert communication channels 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24402" y="6289214"/>
            <a:ext cx="5124321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650"/>
              </a:spcAft>
            </a:pPr>
            <a:r>
              <a:rPr sz="1196" b="1" dirty="0">
                <a:solidFill>
                  <a:srgbClr val="CF6679"/>
                </a:solidFill>
              </a:rPr>
              <a:t>SMM Vulnerability Impact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1331" y="6178943"/>
            <a:ext cx="3892246" cy="506292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SMM exploits can lead to </a:t>
            </a:r>
            <a:r>
              <a:rPr sz="1076" b="1" dirty="0">
                <a:solidFill>
                  <a:srgbClr val="CF6679"/>
                </a:solidFill>
              </a:rPr>
              <a:t>permanent system compromise</a:t>
            </a:r>
            <a:r>
              <a:rPr sz="1076" b="0" dirty="0">
                <a:solidFill>
                  <a:srgbClr val="FFFFFF"/>
                </a:solidFill>
              </a:rPr>
              <a:t> that can only be resolved by </a:t>
            </a:r>
            <a:r>
              <a:rPr sz="1076" b="0" dirty="0" err="1">
                <a:solidFill>
                  <a:srgbClr val="FFFFFF"/>
                </a:solidFill>
              </a:rPr>
              <a:t>reflashing</a:t>
            </a:r>
            <a:r>
              <a:rPr sz="1076" b="0" dirty="0">
                <a:solidFill>
                  <a:srgbClr val="FFFFFF"/>
                </a:solidFill>
              </a:rPr>
              <a:t> the firmware with a clean image </a:t>
            </a:r>
          </a:p>
        </p:txBody>
      </p:sp>
      <p:sp>
        <p:nvSpPr>
          <p:cNvPr id="50" name="Rounded Rectangle 41"/>
          <p:cNvSpPr/>
          <p:nvPr/>
        </p:nvSpPr>
        <p:spPr>
          <a:xfrm>
            <a:off x="6026036" y="5410246"/>
            <a:ext cx="2368551" cy="704849"/>
          </a:xfrm>
          <a:prstGeom prst="roundRect">
            <a:avLst>
              <a:gd name="adj" fmla="val 16216"/>
            </a:avLst>
          </a:prstGeom>
          <a:solidFill>
            <a:srgbClr val="CF6679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6140333" y="5543596"/>
            <a:ext cx="278742" cy="228600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6568948" y="5406932"/>
            <a:ext cx="1838938" cy="71147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CF6679"/>
                </a:solidFill>
              </a:rPr>
              <a:t>Undetectable</a:t>
            </a:r>
            <a:r>
              <a:rPr sz="1076" b="0">
                <a:solidFill>
                  <a:srgbClr val="FFFFFF"/>
                </a:solidFill>
              </a:rPr>
              <a:t> - Traditional security tools cannot see or remove SMM malware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5000"/>
              </a:srgbClr>
            </a:gs>
            <a:gs pos="100000">
              <a:srgbClr val="242424">
                <a:alpha val="90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Technical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238249"/>
            <a:ext cx="5238619" cy="5400675"/>
          </a:xfrm>
          <a:prstGeom prst="roundRect">
            <a:avLst>
              <a:gd name="adj" fmla="val 2909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1747" y="1476375"/>
            <a:ext cx="4762380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SMM Handler Architecture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533525"/>
            <a:ext cx="285742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981199"/>
            <a:ext cx="190495" cy="1904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38219" y="1962149"/>
            <a:ext cx="4429014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SMI Handler Registration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8219" y="2266950"/>
            <a:ext cx="4429014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SMM handlers register to respond to specific System Management Interrupts (SMIs)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857500"/>
            <a:ext cx="219069" cy="19049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57268" y="2838450"/>
            <a:ext cx="4409964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SMRAM Protection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7268" y="3143250"/>
            <a:ext cx="4409964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Special memory region accessible only in SMM, protected by CPU features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733799"/>
            <a:ext cx="190495" cy="19049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38219" y="3714750"/>
            <a:ext cx="4429014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 dirty="0">
                <a:solidFill>
                  <a:srgbClr val="E0E0E0"/>
                </a:solidFill>
              </a:rPr>
              <a:t>Communication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8219" y="4019549"/>
            <a:ext cx="4429014" cy="209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Data exchange mechanism between SMM and non-SMM code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4852" y="4371975"/>
            <a:ext cx="4762380" cy="1885950"/>
          </a:xfrm>
          <a:prstGeom prst="roundRect">
            <a:avLst>
              <a:gd name="adj" fmla="val 6060"/>
            </a:avLst>
          </a:prstGeom>
          <a:solidFill>
            <a:srgbClr val="000000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 Same Side Corner Rectangle 15"/>
          <p:cNvSpPr/>
          <p:nvPr/>
        </p:nvSpPr>
        <p:spPr>
          <a:xfrm rot="16200000">
            <a:off x="11407" y="5265420"/>
            <a:ext cx="1885950" cy="990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47723" y="4530604"/>
            <a:ext cx="2355214" cy="1528111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>
              <a:lnSpc>
                <a:spcPts val="1560"/>
              </a:lnSpc>
            </a:pPr>
            <a:r>
              <a:rPr lang="en-CA" sz="956" dirty="0">
                <a:solidFill>
                  <a:srgbClr val="569CD6"/>
                </a:solidFill>
              </a:rPr>
              <a:t>EFI_STATUS</a:t>
            </a:r>
            <a:r>
              <a:rPr lang="en-CA" sz="956" dirty="0">
                <a:solidFill>
                  <a:srgbClr val="E0E0E0"/>
                </a:solidFill>
              </a:rPr>
              <a:t> </a:t>
            </a:r>
            <a:r>
              <a:rPr lang="en-CA" sz="956" dirty="0">
                <a:solidFill>
                  <a:srgbClr val="DCDCAA"/>
                </a:solidFill>
              </a:rPr>
              <a:t>EFIAPI</a:t>
            </a:r>
            <a:r>
              <a:rPr lang="en-CA" sz="956" dirty="0">
                <a:solidFill>
                  <a:srgbClr val="E0E0E0"/>
                </a:solidFill>
              </a:rPr>
              <a:t> </a:t>
            </a:r>
            <a:r>
              <a:rPr lang="en-CA" sz="956" dirty="0" err="1">
                <a:solidFill>
                  <a:srgbClr val="E0E0E0"/>
                </a:solidFill>
              </a:rPr>
              <a:t>SmmGetVariable</a:t>
            </a:r>
            <a:r>
              <a:rPr lang="en-CA" sz="956" dirty="0">
                <a:solidFill>
                  <a:srgbClr val="E0E0E0"/>
                </a:solidFill>
              </a:rPr>
              <a:t> (</a:t>
            </a:r>
            <a:br>
              <a:rPr lang="en-US" sz="956" b="0" dirty="0">
                <a:solidFill>
                  <a:srgbClr val="569CD6"/>
                </a:solidFill>
              </a:rPr>
            </a:br>
            <a:r>
              <a:rPr lang="en-US" sz="956" b="0" dirty="0">
                <a:solidFill>
                  <a:srgbClr val="569CD6"/>
                </a:solidFill>
              </a:rPr>
              <a:t>	</a:t>
            </a:r>
            <a:r>
              <a:rPr sz="956" b="0" dirty="0">
                <a:solidFill>
                  <a:srgbClr val="569CD6"/>
                </a:solidFill>
              </a:rPr>
              <a:t>IN</a:t>
            </a:r>
            <a:r>
              <a:rPr sz="956" b="0" dirty="0">
                <a:solidFill>
                  <a:srgbClr val="E0E0E0"/>
                </a:solidFill>
              </a:rPr>
              <a:t> </a:t>
            </a:r>
            <a:r>
              <a:rPr sz="956" b="0" dirty="0">
                <a:solidFill>
                  <a:srgbClr val="569CD6"/>
                </a:solidFill>
              </a:rPr>
              <a:t>CHAR16</a:t>
            </a:r>
            <a:r>
              <a:rPr sz="956" b="0" dirty="0">
                <a:solidFill>
                  <a:srgbClr val="E0E0E0"/>
                </a:solidFill>
              </a:rPr>
              <a:t> *</a:t>
            </a:r>
            <a:r>
              <a:rPr sz="956" b="0" dirty="0" err="1">
                <a:solidFill>
                  <a:srgbClr val="E0E0E0"/>
                </a:solidFill>
              </a:rPr>
              <a:t>VariableName</a:t>
            </a:r>
            <a:r>
              <a:rPr sz="956" b="0" dirty="0">
                <a:solidFill>
                  <a:srgbClr val="E0E0E0"/>
                </a:solidFill>
              </a:rPr>
              <a:t>,</a:t>
            </a:r>
            <a:br>
              <a:rPr lang="en-US" sz="956" b="0" dirty="0">
                <a:solidFill>
                  <a:srgbClr val="E0E0E0"/>
                </a:solidFill>
              </a:rPr>
            </a:br>
            <a:r>
              <a:rPr lang="en-US" sz="956" b="0" dirty="0">
                <a:solidFill>
                  <a:srgbClr val="E0E0E0"/>
                </a:solidFill>
              </a:rPr>
              <a:t>	</a:t>
            </a:r>
            <a:r>
              <a:rPr sz="956" b="0" dirty="0">
                <a:solidFill>
                  <a:srgbClr val="569CD6"/>
                </a:solidFill>
              </a:rPr>
              <a:t>IN</a:t>
            </a:r>
            <a:r>
              <a:rPr sz="956" b="0" dirty="0">
                <a:solidFill>
                  <a:srgbClr val="E0E0E0"/>
                </a:solidFill>
              </a:rPr>
              <a:t> EFI_GUID *</a:t>
            </a:r>
            <a:r>
              <a:rPr sz="956" b="0" dirty="0" err="1">
                <a:solidFill>
                  <a:srgbClr val="E0E0E0"/>
                </a:solidFill>
              </a:rPr>
              <a:t>VendorGuid</a:t>
            </a:r>
            <a:r>
              <a:rPr lang="en-US" sz="956" b="0" dirty="0">
                <a:solidFill>
                  <a:srgbClr val="E0E0E0"/>
                </a:solidFill>
              </a:rPr>
              <a:t>,</a:t>
            </a:r>
            <a:r>
              <a:rPr lang="en-CA" sz="1000" dirty="0">
                <a:solidFill>
                  <a:srgbClr val="569CD6"/>
                </a:solidFill>
              </a:rPr>
              <a:t> </a:t>
            </a:r>
          </a:p>
          <a:p>
            <a:pPr>
              <a:lnSpc>
                <a:spcPts val="1560"/>
              </a:lnSpc>
            </a:pPr>
            <a:r>
              <a:rPr lang="en-CA" sz="1000" dirty="0">
                <a:solidFill>
                  <a:srgbClr val="569CD6"/>
                </a:solidFill>
              </a:rPr>
              <a:t>	OUT</a:t>
            </a:r>
            <a:r>
              <a:rPr lang="en-CA" sz="1000" dirty="0">
                <a:solidFill>
                  <a:srgbClr val="E0E0E0"/>
                </a:solidFill>
              </a:rPr>
              <a:t> UINT32 *Attributes,</a:t>
            </a:r>
            <a:r>
              <a:rPr sz="956" b="0" dirty="0">
                <a:solidFill>
                  <a:srgbClr val="E0E0E0"/>
                </a:solidFill>
              </a:rPr>
              <a:t> </a:t>
            </a:r>
            <a:endParaRPr lang="en-US" sz="956" b="0" dirty="0">
              <a:solidFill>
                <a:srgbClr val="E0E0E0"/>
              </a:solidFill>
            </a:endParaRPr>
          </a:p>
          <a:p>
            <a:pPr>
              <a:lnSpc>
                <a:spcPts val="1560"/>
              </a:lnSpc>
            </a:pPr>
            <a:r>
              <a:rPr lang="en-US" sz="956" b="0" dirty="0">
                <a:solidFill>
                  <a:srgbClr val="569CD6"/>
                </a:solidFill>
              </a:rPr>
              <a:t>	</a:t>
            </a:r>
            <a:r>
              <a:rPr sz="956" b="0" dirty="0">
                <a:solidFill>
                  <a:srgbClr val="569CD6"/>
                </a:solidFill>
              </a:rPr>
              <a:t>IN OUT</a:t>
            </a:r>
            <a:r>
              <a:rPr sz="956" b="0" dirty="0">
                <a:solidFill>
                  <a:srgbClr val="E0E0E0"/>
                </a:solidFill>
              </a:rPr>
              <a:t> UINTN *</a:t>
            </a:r>
            <a:r>
              <a:rPr sz="956" b="0" dirty="0" err="1">
                <a:solidFill>
                  <a:srgbClr val="E0E0E0"/>
                </a:solidFill>
              </a:rPr>
              <a:t>DataSize</a:t>
            </a:r>
            <a:r>
              <a:rPr sz="956" b="0" dirty="0">
                <a:solidFill>
                  <a:srgbClr val="E0E0E0"/>
                </a:solidFill>
              </a:rPr>
              <a:t>,</a:t>
            </a:r>
            <a:r>
              <a:rPr sz="1104" dirty="0"/>
              <a:t>
</a:t>
            </a:r>
            <a:r>
              <a:rPr lang="en-US" sz="956" dirty="0">
                <a:solidFill>
                  <a:srgbClr val="E0E0E0"/>
                </a:solidFill>
              </a:rPr>
              <a:t>	</a:t>
            </a:r>
            <a:r>
              <a:rPr sz="956" b="0" dirty="0">
                <a:solidFill>
                  <a:srgbClr val="569CD6"/>
                </a:solidFill>
              </a:rPr>
              <a:t>OUT</a:t>
            </a:r>
            <a:r>
              <a:rPr sz="956" b="0" dirty="0">
                <a:solidFill>
                  <a:srgbClr val="E0E0E0"/>
                </a:solidFill>
              </a:rPr>
              <a:t> VOID *Data</a:t>
            </a:r>
            <a:r>
              <a:rPr sz="1104" dirty="0"/>
              <a:t>
</a:t>
            </a:r>
            <a:r>
              <a:rPr sz="956" b="0" dirty="0">
                <a:solidFill>
                  <a:srgbClr val="E0E0E0"/>
                </a:solidFill>
              </a:rPr>
              <a:t> ) </a:t>
            </a:r>
            <a:r>
              <a:rPr sz="956" b="0" dirty="0">
                <a:solidFill>
                  <a:srgbClr val="6A9955"/>
                </a:solidFill>
              </a:rPr>
              <a:t>// Vulnerable function</a:t>
            </a:r>
            <a:r>
              <a:rPr sz="956" b="0" dirty="0">
                <a:solidFill>
                  <a:srgbClr val="E0E0E0"/>
                </a:solidFill>
              </a:rPr>
              <a:t>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86342" y="1238249"/>
            <a:ext cx="5238619" cy="5400675"/>
          </a:xfrm>
          <a:prstGeom prst="roundRect">
            <a:avLst>
              <a:gd name="adj" fmla="val 2909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53045" y="1495424"/>
            <a:ext cx="4762380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Vulnerability Exploitation Flow 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24461" y="1533525"/>
            <a:ext cx="257168" cy="228600"/>
          </a:xfrm>
          <a:prstGeom prst="rect">
            <a:avLst/>
          </a:prstGeom>
        </p:spPr>
      </p:pic>
      <p:sp>
        <p:nvSpPr>
          <p:cNvPr id="33" name="Rounded Rectangle 32"/>
          <p:cNvSpPr/>
          <p:nvPr/>
        </p:nvSpPr>
        <p:spPr>
          <a:xfrm>
            <a:off x="6524461" y="1962149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24461" y="1962149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53076" y="1962149"/>
            <a:ext cx="4333766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Trigger SMI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53076" y="2266950"/>
            <a:ext cx="433376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Attacker sends specially crafted request via </a:t>
            </a:r>
            <a:r>
              <a:rPr sz="956" b="1">
                <a:solidFill>
                  <a:srgbClr val="03DAC6"/>
                </a:solidFill>
              </a:rPr>
              <a:t>USB/Thunderbolt</a:t>
            </a:r>
            <a:r>
              <a:rPr sz="956" b="0">
                <a:solidFill>
                  <a:srgbClr val="CCCCCC"/>
                </a:solidFill>
              </a:rPr>
              <a:t> device to trigger vulnerable SMM handler 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24461" y="28384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24461" y="2838450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53076" y="2838450"/>
            <a:ext cx="4333766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Overflow VariableName Buffer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53076" y="3143250"/>
            <a:ext cx="433376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Excessively long </a:t>
            </a:r>
            <a:r>
              <a:rPr sz="956" b="1">
                <a:solidFill>
                  <a:srgbClr val="CF6679"/>
                </a:solidFill>
              </a:rPr>
              <a:t>VariableName</a:t>
            </a:r>
            <a:r>
              <a:rPr sz="956" b="0">
                <a:solidFill>
                  <a:srgbClr val="CCCCCC"/>
                </a:solidFill>
              </a:rPr>
              <a:t> parameter overwrites stack buffer and adjacent memory 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24461" y="3714750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24461" y="3714750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3076" y="3714750"/>
            <a:ext cx="4333766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Control SMM Execution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3076" y="4019549"/>
            <a:ext cx="433376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Overwritten return address redirects execution to attacker-controlled code in </a:t>
            </a:r>
            <a:r>
              <a:rPr sz="956" b="1">
                <a:solidFill>
                  <a:srgbClr val="03DAC6"/>
                </a:solidFill>
              </a:rPr>
              <a:t>SMRAM</a:t>
            </a:r>
            <a:r>
              <a:rPr sz="956" b="0">
                <a:solidFill>
                  <a:srgbClr val="CCCCCC"/>
                </a:solidFill>
              </a:rPr>
              <a:t>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524461" y="4581524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24461" y="4581524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53076" y="4581524"/>
            <a:ext cx="4333766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Escalate Privileges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53076" y="4886325"/>
            <a:ext cx="433376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Malicious code executes with </a:t>
            </a:r>
            <a:r>
              <a:rPr sz="956" b="1">
                <a:solidFill>
                  <a:srgbClr val="CF6679"/>
                </a:solidFill>
              </a:rPr>
              <a:t>Ring -2</a:t>
            </a:r>
            <a:r>
              <a:rPr sz="956" b="0">
                <a:solidFill>
                  <a:srgbClr val="CCCCCC"/>
                </a:solidFill>
              </a:rPr>
              <a:t> privileges, bypassing all OS security 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24461" y="5457825"/>
            <a:ext cx="285742" cy="285750"/>
          </a:xfrm>
          <a:prstGeom prst="roundRect">
            <a:avLst>
              <a:gd name="adj" fmla="val 50000"/>
            </a:avLst>
          </a:prstGeom>
          <a:solidFill>
            <a:srgbClr val="03DA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524461" y="5457825"/>
            <a:ext cx="285742" cy="2857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21212"/>
                </a:solidFill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953076" y="5457825"/>
            <a:ext cx="4333766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Establish Persistence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53076" y="5762625"/>
            <a:ext cx="4333766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Modify UEFI firmware to maintain persistence across reboots and OS reinstalls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Vulnerability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686282" cy="2333624"/>
          </a:xfrm>
          <a:prstGeom prst="roundRect">
            <a:avLst>
              <a:gd name="adj" fmla="val 6530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442085"/>
            <a:ext cx="228594" cy="12572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76318" y="1390650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0E0"/>
                </a:solidFill>
              </a:rPr>
              <a:t>CVE ID: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537" y="1381124"/>
            <a:ext cx="1352516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03DAC6"/>
                </a:solidFill>
              </a:rPr>
              <a:t>CVE-2025-27718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831181"/>
            <a:ext cx="228594" cy="18573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276318" y="1819275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0E0"/>
                </a:solidFill>
              </a:rPr>
              <a:t>Severity: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37" y="1762125"/>
            <a:ext cx="1514437" cy="3333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CVSS 8.8 </a:t>
            </a:r>
            <a:r>
              <a:rPr sz="1196" b="1">
                <a:solidFill>
                  <a:srgbClr val="CF6679"/>
                </a:solidFill>
              </a:rPr>
              <a:t>HIGH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14576" y="1762125"/>
            <a:ext cx="666733" cy="333375"/>
          </a:xfrm>
          <a:prstGeom prst="roundRect">
            <a:avLst>
              <a:gd name="adj" fmla="val 114285"/>
            </a:avLst>
          </a:prstGeom>
          <a:solidFill>
            <a:srgbClr val="CF6679">
              <a:alpha val="2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279332"/>
            <a:ext cx="228594" cy="16573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276318" y="2247899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0E0"/>
                </a:solidFill>
              </a:rPr>
              <a:t>Affected: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537" y="2210025"/>
            <a:ext cx="2566665" cy="2948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 dirty="0">
                <a:solidFill>
                  <a:srgbClr val="FFFFFF"/>
                </a:solidFill>
              </a:rPr>
              <a:t>Dell</a:t>
            </a:r>
            <a:r>
              <a:rPr lang="en-US" sz="1196" b="1" dirty="0">
                <a:solidFill>
                  <a:srgbClr val="FFFFFF"/>
                </a:solidFill>
              </a:rPr>
              <a:t> + Gigabyte</a:t>
            </a:r>
            <a:r>
              <a:rPr sz="1196" b="1" dirty="0">
                <a:solidFill>
                  <a:srgbClr val="FFFFFF"/>
                </a:solidFill>
              </a:rPr>
              <a:t> BIOS &lt; 184.108.40.206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2634615"/>
            <a:ext cx="228594" cy="21717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76318" y="2628900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0E0"/>
                </a:solidFill>
              </a:rPr>
              <a:t>Vector: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537" y="2619374"/>
            <a:ext cx="203829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Physical access required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303561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276318" y="3009900"/>
            <a:ext cx="1142971" cy="21907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E0E0E0"/>
                </a:solidFill>
              </a:rPr>
              <a:t>Published: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514537" y="3000375"/>
            <a:ext cx="1019149" cy="238124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FFFFFF"/>
                </a:solidFill>
              </a:rPr>
              <a:t>August 2025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15109" y="2543078"/>
            <a:ext cx="4886202" cy="2648140"/>
          </a:xfrm>
          <a:prstGeom prst="roundRect">
            <a:avLst>
              <a:gd name="adj" fmla="val 3118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53228" y="2781202"/>
            <a:ext cx="4409964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3DAC6"/>
                </a:solidFill>
              </a:rPr>
              <a:t> Technical Trigger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53228" y="2825970"/>
            <a:ext cx="228594" cy="177164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3228" y="3305077"/>
            <a:ext cx="190495" cy="9524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86594" y="3238402"/>
            <a:ext cx="3619409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0">
                <a:solidFill>
                  <a:srgbClr val="03DAC6"/>
                </a:solidFill>
              </a:rPr>
              <a:t>Stack buffer overflow</a:t>
            </a:r>
            <a:r>
              <a:rPr sz="1076" b="0">
                <a:solidFill>
                  <a:srgbClr val="FFFFFF"/>
                </a:solidFill>
              </a:rPr>
              <a:t> in SmmGetVariable() handler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3228" y="3686078"/>
            <a:ext cx="190495" cy="9524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286594" y="3619402"/>
            <a:ext cx="3562260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Exploitable via malicious USB/Thunderbolt device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3228" y="4067078"/>
            <a:ext cx="190495" cy="9524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286594" y="3876577"/>
            <a:ext cx="4076598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 Allows arbitrary code execution in </a:t>
            </a:r>
            <a:r>
              <a:rPr sz="1076" b="0" dirty="0">
                <a:solidFill>
                  <a:srgbClr val="03DAC6"/>
                </a:solidFill>
              </a:rPr>
              <a:t>System Management Mode (SMM)</a:t>
            </a:r>
            <a:r>
              <a:rPr sz="1076" b="0" dirty="0">
                <a:solidFill>
                  <a:srgbClr val="FFFFFF"/>
                </a:solidFill>
              </a:rPr>
              <a:t>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3228" y="4468709"/>
            <a:ext cx="190495" cy="9524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286594" y="4402034"/>
            <a:ext cx="3800379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FFFFFF"/>
                </a:solidFill>
              </a:rPr>
              <a:t>Vulnerability exists in variable name length validation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53228" y="4849708"/>
            <a:ext cx="190495" cy="9524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286594" y="4783034"/>
            <a:ext cx="3562260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Attacker can overwrite SMI handler execution flow</a:t>
            </a:r>
          </a:p>
        </p:txBody>
      </p:sp>
      <p:sp>
        <p:nvSpPr>
          <p:cNvPr id="33" name="Rounded Rectangle 17"/>
          <p:cNvSpPr/>
          <p:nvPr/>
        </p:nvSpPr>
        <p:spPr>
          <a:xfrm>
            <a:off x="857381" y="3571874"/>
            <a:ext cx="5238619" cy="3228975"/>
          </a:xfrm>
          <a:prstGeom prst="roundRect">
            <a:avLst>
              <a:gd name="adj" fmla="val 4719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95200" y="3791140"/>
            <a:ext cx="4662680" cy="380617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975"/>
              </a:spcAft>
            </a:pPr>
            <a:r>
              <a:rPr sz="1435" b="1" dirty="0">
                <a:solidFill>
                  <a:srgbClr val="03DAC6"/>
                </a:solidFill>
              </a:rPr>
              <a:t> </a:t>
            </a:r>
            <a:r>
              <a:rPr sz="1104" dirty="0"/>
              <a:t>  </a:t>
            </a:r>
            <a:r>
              <a:rPr sz="1435" b="1" dirty="0">
                <a:solidFill>
                  <a:srgbClr val="03DAC6"/>
                </a:solidFill>
              </a:rPr>
              <a:t> Stack Buffer Overflow Vulnerability 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95500" y="3867148"/>
            <a:ext cx="228594" cy="228600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95500" y="4352925"/>
            <a:ext cx="238119" cy="190499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1476490" y="4295773"/>
            <a:ext cx="4381390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Insufficient Length Validation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76490" y="4600574"/>
            <a:ext cx="4381390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</a:t>
            </a:r>
            <a:r>
              <a:rPr sz="956" b="1">
                <a:solidFill>
                  <a:srgbClr val="CF6679"/>
                </a:solidFill>
              </a:rPr>
              <a:t>VariableName</a:t>
            </a:r>
            <a:r>
              <a:rPr sz="956" b="0">
                <a:solidFill>
                  <a:srgbClr val="CCCCCC"/>
                </a:solidFill>
              </a:rPr>
              <a:t> length not properly validated before copying to stack buffer </a:t>
            </a:r>
          </a:p>
        </p:txBody>
      </p:sp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114549" y="5238750"/>
            <a:ext cx="190495" cy="19049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1428867" y="5172074"/>
            <a:ext cx="4429014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>
                <a:solidFill>
                  <a:srgbClr val="E0E0E0"/>
                </a:solidFill>
              </a:rPr>
              <a:t>Unsafe Memory Operations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28867" y="5476873"/>
            <a:ext cx="4429014" cy="2095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 Using </a:t>
            </a:r>
            <a:r>
              <a:rPr sz="956" b="1">
                <a:solidFill>
                  <a:srgbClr val="CF6679"/>
                </a:solidFill>
              </a:rPr>
              <a:t>CopyMem()</a:t>
            </a:r>
            <a:r>
              <a:rPr sz="956" b="0">
                <a:solidFill>
                  <a:srgbClr val="CCCCCC"/>
                </a:solidFill>
              </a:rPr>
              <a:t> without bounds checking allows overflow 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124073" y="5975660"/>
            <a:ext cx="171445" cy="190499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452678" y="5919787"/>
            <a:ext cx="4457588" cy="2571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325"/>
              </a:spcAft>
            </a:pPr>
            <a:r>
              <a:rPr sz="1076" b="1" dirty="0">
                <a:solidFill>
                  <a:srgbClr val="E0E0E0"/>
                </a:solidFill>
              </a:rPr>
              <a:t>Control Flow Hijacking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09817" y="6134098"/>
            <a:ext cx="4457588" cy="42862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CCCCCC"/>
                </a:solidFill>
              </a:rPr>
              <a:t>Overflow overwrites return address, redirecting execution to attacker's payload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Attack Scenario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6229194" cy="5334000"/>
          </a:xfrm>
          <a:prstGeom prst="roundRect">
            <a:avLst>
              <a:gd name="adj" fmla="val 2857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04852" y="138112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04852" y="1381124"/>
            <a:ext cx="38099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1212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338" y="1381124"/>
            <a:ext cx="5181470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3DAC6"/>
                </a:solidFill>
              </a:rPr>
              <a:t>Initial Access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38" y="1724024"/>
            <a:ext cx="518147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Attacker boots target system with </a:t>
            </a:r>
            <a:r>
              <a:rPr sz="1076" b="1">
                <a:solidFill>
                  <a:srgbClr val="03DAC6"/>
                </a:solidFill>
              </a:rPr>
              <a:t>crafted USB/Thunderbolt device</a:t>
            </a:r>
            <a:r>
              <a:rPr sz="1076" b="0">
                <a:solidFill>
                  <a:srgbClr val="FFFFFF"/>
                </a:solidFill>
              </a:rPr>
              <a:t> containing malicious payload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4852" y="2390774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4852" y="2390774"/>
            <a:ext cx="38099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1212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76338" y="2390774"/>
            <a:ext cx="5181470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3DAC6"/>
                </a:solidFill>
              </a:rPr>
              <a:t>Trigger Vulnerability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76338" y="2733674"/>
            <a:ext cx="518147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Malicious SMI (System Management Interrupt) triggers </a:t>
            </a:r>
            <a:r>
              <a:rPr sz="1076" b="1">
                <a:solidFill>
                  <a:srgbClr val="CF6679"/>
                </a:solidFill>
              </a:rPr>
              <a:t>stack buffer overflow</a:t>
            </a:r>
            <a:r>
              <a:rPr sz="1076" b="0">
                <a:solidFill>
                  <a:srgbClr val="FFFFFF"/>
                </a:solidFill>
              </a:rPr>
              <a:t> in SmmGetVariable() handler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4852" y="340995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4852" y="3409950"/>
            <a:ext cx="38099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1212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76338" y="3409950"/>
            <a:ext cx="5181470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3DAC6"/>
                </a:solidFill>
              </a:rPr>
              <a:t>Code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76338" y="3752849"/>
            <a:ext cx="518147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Overflow allows </a:t>
            </a:r>
            <a:r>
              <a:rPr sz="1076" b="1">
                <a:solidFill>
                  <a:srgbClr val="03DAC6"/>
                </a:solidFill>
              </a:rPr>
              <a:t>arbitrary code execution</a:t>
            </a:r>
            <a:r>
              <a:rPr sz="1076" b="0">
                <a:solidFill>
                  <a:srgbClr val="FFFFFF"/>
                </a:solidFill>
              </a:rPr>
              <a:t> in System Management Mode (SMM) 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852" y="4419600"/>
            <a:ext cx="380990" cy="380999"/>
          </a:xfrm>
          <a:prstGeom prst="roundRect">
            <a:avLst>
              <a:gd name="adj" fmla="val 50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04852" y="4419600"/>
            <a:ext cx="380990" cy="3809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21212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76338" y="4419600"/>
            <a:ext cx="5181470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03DAC6"/>
                </a:solidFill>
              </a:rPr>
              <a:t>Persistence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76338" y="4762500"/>
            <a:ext cx="5181470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Malicious code modifies UEFI firmware to install </a:t>
            </a:r>
            <a:r>
              <a:rPr sz="1076" b="1">
                <a:solidFill>
                  <a:srgbClr val="CF6679"/>
                </a:solidFill>
              </a:rPr>
              <a:t>persistent rootkit</a:t>
            </a:r>
            <a:r>
              <a:rPr sz="1076" b="0">
                <a:solidFill>
                  <a:srgbClr val="FFFFFF"/>
                </a:solidFill>
              </a:rPr>
              <a:t> that survives OS reinstallation 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81670" y="1143000"/>
            <a:ext cx="4343291" cy="5334000"/>
          </a:xfrm>
          <a:prstGeom prst="roundRect">
            <a:avLst>
              <a:gd name="adj" fmla="val 3508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9789" y="1381124"/>
            <a:ext cx="3867053" cy="26669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31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315" b="1">
                <a:solidFill>
                  <a:srgbClr val="03DAC6"/>
                </a:solidFill>
              </a:rPr>
              <a:t> Impact 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419789" y="1421606"/>
            <a:ext cx="228594" cy="185737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9789" y="1844040"/>
            <a:ext cx="228594" cy="21717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91255" y="1838324"/>
            <a:ext cx="349558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</a:t>
            </a:r>
            <a:r>
              <a:rPr sz="1076" b="1">
                <a:solidFill>
                  <a:srgbClr val="CF6679"/>
                </a:solidFill>
              </a:rPr>
              <a:t>Bypasses Secure Boot</a:t>
            </a:r>
            <a:r>
              <a:rPr sz="1076" b="0">
                <a:solidFill>
                  <a:srgbClr val="FFFFFF"/>
                </a:solidFill>
              </a:rPr>
              <a:t> and other OS security mechanisms 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19789" y="2478881"/>
            <a:ext cx="228594" cy="18573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791255" y="2457450"/>
            <a:ext cx="349558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Rootkit remains </a:t>
            </a:r>
            <a:r>
              <a:rPr sz="1076" b="1">
                <a:solidFill>
                  <a:srgbClr val="03DAC6"/>
                </a:solidFill>
              </a:rPr>
              <a:t>invisible</a:t>
            </a:r>
            <a:r>
              <a:rPr sz="1076" b="0">
                <a:solidFill>
                  <a:srgbClr val="FFFFFF"/>
                </a:solidFill>
              </a:rPr>
              <a:t> to OS-level security tools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19789" y="3111817"/>
            <a:ext cx="228594" cy="17716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791255" y="3086100"/>
            <a:ext cx="349558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Attacker gains </a:t>
            </a:r>
            <a:r>
              <a:rPr sz="1076" b="1">
                <a:solidFill>
                  <a:srgbClr val="CF6679"/>
                </a:solidFill>
              </a:rPr>
              <a:t>full system control</a:t>
            </a:r>
            <a:r>
              <a:rPr sz="1076" b="0">
                <a:solidFill>
                  <a:srgbClr val="FFFFFF"/>
                </a:solidFill>
              </a:rPr>
              <a:t> with highest privileges 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19789" y="3710940"/>
            <a:ext cx="228594" cy="21717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91255" y="3705224"/>
            <a:ext cx="349558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Malware </a:t>
            </a:r>
            <a:r>
              <a:rPr sz="1076" b="1">
                <a:solidFill>
                  <a:srgbClr val="03DAC6"/>
                </a:solidFill>
              </a:rPr>
              <a:t>persists</a:t>
            </a:r>
            <a:r>
              <a:rPr sz="1076" b="0">
                <a:solidFill>
                  <a:srgbClr val="FFFFFF"/>
                </a:solidFill>
              </a:rPr>
              <a:t> across OS reinstalls and hard drive wipes 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419789" y="4330065"/>
            <a:ext cx="228594" cy="21717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7791255" y="4324349"/>
            <a:ext cx="3495587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 Potential for </a:t>
            </a:r>
            <a:r>
              <a:rPr sz="1076" b="1">
                <a:solidFill>
                  <a:srgbClr val="CF6679"/>
                </a:solidFill>
              </a:rPr>
              <a:t>data theft</a:t>
            </a:r>
            <a:r>
              <a:rPr sz="1076" b="0">
                <a:solidFill>
                  <a:srgbClr val="FFFFFF"/>
                </a:solidFill>
              </a:rPr>
              <a:t> and long-term surveillance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Detection &amp; Mitigation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5334000"/>
          </a:xfrm>
          <a:prstGeom prst="roundRect">
            <a:avLst>
              <a:gd name="adj" fmla="val 2909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852" y="1381124"/>
            <a:ext cx="4762380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Detection Tools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422538"/>
            <a:ext cx="266693" cy="20292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872615"/>
            <a:ext cx="228594" cy="2171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186689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Binarly IQ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6318" y="215265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Commercial firmware scanner that detects </a:t>
            </a:r>
            <a:r>
              <a:rPr sz="1076" b="1">
                <a:solidFill>
                  <a:srgbClr val="03DAC6"/>
                </a:solidFill>
              </a:rPr>
              <a:t>SMM vulnerabilities</a:t>
            </a:r>
            <a:r>
              <a:rPr sz="1076" b="0">
                <a:solidFill>
                  <a:srgbClr val="CCCCCC"/>
                </a:solidFill>
              </a:rPr>
              <a:t> and malicious code patterns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804636"/>
            <a:ext cx="228594" cy="22002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80035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CHIPSEC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18" y="308610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Open-source framework for analyzing </a:t>
            </a:r>
            <a:r>
              <a:rPr sz="1076" b="1">
                <a:solidFill>
                  <a:srgbClr val="03DAC6"/>
                </a:solidFill>
              </a:rPr>
              <a:t>platform security</a:t>
            </a:r>
            <a:r>
              <a:rPr sz="1076" b="0">
                <a:solidFill>
                  <a:srgbClr val="CCCCCC"/>
                </a:solidFill>
              </a:rPr>
              <a:t> including firmware, hardware, and configuration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749039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374332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fwupd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4029075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Open-source daemon for managing firmware updates on Linux, includes </a:t>
            </a:r>
            <a:r>
              <a:rPr sz="1076" b="1">
                <a:solidFill>
                  <a:srgbClr val="03DAC6"/>
                </a:solidFill>
              </a:rPr>
              <a:t>security checks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4702492"/>
            <a:ext cx="228594" cy="17716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467677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UEFI Scanner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4962525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Analyzes UEFI firmware images for </a:t>
            </a:r>
            <a:r>
              <a:rPr sz="1076" b="1">
                <a:solidFill>
                  <a:srgbClr val="CF6679"/>
                </a:solidFill>
              </a:rPr>
              <a:t>known vulnerabilities</a:t>
            </a:r>
            <a:r>
              <a:rPr sz="1076" b="0">
                <a:solidFill>
                  <a:srgbClr val="CCCCCC"/>
                </a:solidFill>
              </a:rPr>
              <a:t> and suspicious components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342" y="1143000"/>
            <a:ext cx="5238619" cy="5334000"/>
          </a:xfrm>
          <a:prstGeom prst="roundRect">
            <a:avLst>
              <a:gd name="adj" fmla="val 2909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4461" y="1381124"/>
            <a:ext cx="4762380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Mitigation Strategies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4461" y="1399346"/>
            <a:ext cx="266693" cy="249306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4461" y="1892617"/>
            <a:ext cx="228594" cy="17716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95927" y="186689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Update BIOS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5927" y="215265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Install Dell BIOS version </a:t>
            </a:r>
            <a:r>
              <a:rPr sz="1076" b="1">
                <a:solidFill>
                  <a:srgbClr val="03DAC6"/>
                </a:solidFill>
              </a:rPr>
              <a:t>≥ 220.127.116.11</a:t>
            </a:r>
            <a:r>
              <a:rPr sz="1076" b="0">
                <a:solidFill>
                  <a:srgbClr val="CCCCCC"/>
                </a:solidFill>
              </a:rPr>
              <a:t> or later to patch the vulnerability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4461" y="2806065"/>
            <a:ext cx="228594" cy="21717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95927" y="280035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Enable UEFI Secure 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5927" y="308610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Prevents unauthorized firmware from loading during boot process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24461" y="3754754"/>
            <a:ext cx="228594" cy="20573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95927" y="374332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Enable SMM Protection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5927" y="402907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Activate </a:t>
            </a:r>
            <a:r>
              <a:rPr sz="1076" b="1">
                <a:solidFill>
                  <a:srgbClr val="CF6679"/>
                </a:solidFill>
              </a:rPr>
              <a:t>SMM_BWP</a:t>
            </a:r>
            <a:r>
              <a:rPr sz="1076" b="0">
                <a:solidFill>
                  <a:srgbClr val="CCCCCC"/>
                </a:solidFill>
              </a:rPr>
              <a:t> and </a:t>
            </a:r>
            <a:r>
              <a:rPr sz="1076" b="1">
                <a:solidFill>
                  <a:srgbClr val="CF6679"/>
                </a:solidFill>
              </a:rPr>
              <a:t>BIOSWE</a:t>
            </a:r>
            <a:r>
              <a:rPr sz="1076" b="0">
                <a:solidFill>
                  <a:srgbClr val="CCCCCC"/>
                </a:solidFill>
              </a:rPr>
              <a:t> protection in BIOS settings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24461" y="4448651"/>
            <a:ext cx="228594" cy="20859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95927" y="443864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Restrict Physical Access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5927" y="4724399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Limit USB/Thunderbolt port access to prevent </a:t>
            </a:r>
            <a:r>
              <a:rPr sz="1076" b="1">
                <a:solidFill>
                  <a:srgbClr val="03DAC6"/>
                </a:solidFill>
              </a:rPr>
              <a:t>physical attacks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24461" y="5403532"/>
            <a:ext cx="228594" cy="16573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895927" y="537210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Firmware Attestation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5927" y="565785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Implement </a:t>
            </a:r>
            <a:r>
              <a:rPr sz="1076" b="1">
                <a:solidFill>
                  <a:srgbClr val="03DAC6"/>
                </a:solidFill>
              </a:rPr>
              <a:t>remote attestation</a:t>
            </a:r>
            <a:r>
              <a:rPr sz="1076" b="0">
                <a:solidFill>
                  <a:srgbClr val="CCCCCC"/>
                </a:solidFill>
              </a:rPr>
              <a:t> to verify firmware integrity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Broader Implications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5238619" cy="5334000"/>
          </a:xfrm>
          <a:prstGeom prst="roundRect">
            <a:avLst>
              <a:gd name="adj" fmla="val 2909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852" y="1381124"/>
            <a:ext cx="4762380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Industry Impact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419639"/>
            <a:ext cx="266693" cy="20872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4852" y="1898332"/>
            <a:ext cx="228594" cy="16573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276318" y="186689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Cross-Vendor Vulnerabilities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6318" y="215265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Similar flaws discovered in </a:t>
            </a:r>
            <a:r>
              <a:rPr sz="1076" b="1">
                <a:solidFill>
                  <a:srgbClr val="03DAC6"/>
                </a:solidFill>
              </a:rPr>
              <a:t>Lenovo, HP, and Gigabyte</a:t>
            </a:r>
            <a:r>
              <a:rPr sz="1076" b="0">
                <a:solidFill>
                  <a:srgbClr val="CCCCCC"/>
                </a:solidFill>
              </a:rPr>
              <a:t> firmware 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04852" y="2817495"/>
            <a:ext cx="228594" cy="1943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276318" y="280035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Supply Chain Risks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6318" y="308610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Firmware compromised during </a:t>
            </a:r>
            <a:r>
              <a:rPr sz="1076" b="1">
                <a:solidFill>
                  <a:srgbClr val="CF6679"/>
                </a:solidFill>
              </a:rPr>
              <a:t>manufacturing process</a:t>
            </a:r>
            <a:r>
              <a:rPr sz="1076" b="0">
                <a:solidFill>
                  <a:srgbClr val="CCCCCC"/>
                </a:solidFill>
              </a:rPr>
              <a:t> or distribution 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4852" y="3749039"/>
            <a:ext cx="228594" cy="21717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276318" y="374332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Security Erosion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76318" y="4029075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Undermines trust in </a:t>
            </a:r>
            <a:r>
              <a:rPr sz="1076" b="1">
                <a:solidFill>
                  <a:srgbClr val="03DAC6"/>
                </a:solidFill>
              </a:rPr>
              <a:t>Secure Boot</a:t>
            </a:r>
            <a:r>
              <a:rPr sz="1076" b="0">
                <a:solidFill>
                  <a:srgbClr val="CCCCCC"/>
                </a:solidFill>
              </a:rPr>
              <a:t> and other firmware protections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04852" y="4693920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276318" y="467677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Regulatory Scrutiny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76318" y="4962525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Increased </a:t>
            </a:r>
            <a:r>
              <a:rPr sz="1076" b="1">
                <a:solidFill>
                  <a:srgbClr val="CF6679"/>
                </a:solidFill>
              </a:rPr>
              <a:t>government oversight</a:t>
            </a:r>
            <a:r>
              <a:rPr sz="1076" b="0">
                <a:solidFill>
                  <a:srgbClr val="CCCCCC"/>
                </a:solidFill>
              </a:rPr>
              <a:t> of firmware security practices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86342" y="1143000"/>
            <a:ext cx="5238619" cy="5334000"/>
          </a:xfrm>
          <a:prstGeom prst="roundRect">
            <a:avLst>
              <a:gd name="adj" fmla="val 2909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24461" y="1381124"/>
            <a:ext cx="4762380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Future Trends 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24461" y="1451527"/>
            <a:ext cx="266693" cy="14494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524461" y="1878329"/>
            <a:ext cx="228594" cy="2057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895927" y="186689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Pre-OS Security Focus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5927" y="2152650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Enhanced </a:t>
            </a:r>
            <a:r>
              <a:rPr sz="1076" b="1">
                <a:solidFill>
                  <a:srgbClr val="03DAC6"/>
                </a:solidFill>
              </a:rPr>
              <a:t>firmware attestation</a:t>
            </a:r>
            <a:r>
              <a:rPr sz="1076" b="0">
                <a:solidFill>
                  <a:srgbClr val="CCCCCC"/>
                </a:solidFill>
              </a:rPr>
              <a:t> and measurement technologies 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24461" y="2826067"/>
            <a:ext cx="228594" cy="17716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895927" y="280035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Hardware-Based Protections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95927" y="3086100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Intel CET</a:t>
            </a:r>
            <a:r>
              <a:rPr sz="1076" b="0">
                <a:solidFill>
                  <a:srgbClr val="CCCCCC"/>
                </a:solidFill>
              </a:rPr>
              <a:t> and </a:t>
            </a:r>
            <a:r>
              <a:rPr sz="1076" b="1">
                <a:solidFill>
                  <a:srgbClr val="03DAC6"/>
                </a:solidFill>
              </a:rPr>
              <a:t>AMD SEV</a:t>
            </a:r>
            <a:r>
              <a:rPr sz="1076" b="0">
                <a:solidFill>
                  <a:srgbClr val="CCCCCC"/>
                </a:solidFill>
              </a:rPr>
              <a:t> providing stronger isolation 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24461" y="3522345"/>
            <a:ext cx="228594" cy="194309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895927" y="350519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SMM Hardening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95927" y="3790949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Stricter </a:t>
            </a:r>
            <a:r>
              <a:rPr sz="1076" b="1">
                <a:solidFill>
                  <a:srgbClr val="CF6679"/>
                </a:solidFill>
              </a:rPr>
              <a:t>SMM code signing</a:t>
            </a:r>
            <a:r>
              <a:rPr sz="1076" b="0">
                <a:solidFill>
                  <a:srgbClr val="CCCCCC"/>
                </a:solidFill>
              </a:rPr>
              <a:t> and privilege separation 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24461" y="4216241"/>
            <a:ext cx="228594" cy="197167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95927" y="4200525"/>
            <a:ext cx="4390915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Standardized Security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95927" y="4486275"/>
            <a:ext cx="4390915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Industry-wide </a:t>
            </a:r>
            <a:r>
              <a:rPr sz="1076" b="1">
                <a:solidFill>
                  <a:srgbClr val="03DAC6"/>
                </a:solidFill>
              </a:rPr>
              <a:t>security frameworks</a:t>
            </a:r>
            <a:r>
              <a:rPr sz="1076" b="0">
                <a:solidFill>
                  <a:srgbClr val="CCCCCC"/>
                </a:solidFill>
              </a:rPr>
              <a:t> for firmware development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21212">
                <a:alpha val="90000"/>
              </a:srgbClr>
            </a:gs>
            <a:gs pos="100000">
              <a:srgbClr val="242424">
                <a:alpha val="85000"/>
              </a:srgbClr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6733" y="380999"/>
            <a:ext cx="10858228" cy="47624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650"/>
              </a:spcAft>
            </a:pPr>
            <a:r>
              <a:rPr sz="2392" b="1">
                <a:solidFill>
                  <a:srgbClr val="BB86FC"/>
                </a:solidFill>
              </a:rPr>
              <a:t>Q&amp;A &amp; Resources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6733" y="1143000"/>
            <a:ext cx="4057548" cy="5334000"/>
          </a:xfrm>
          <a:prstGeom prst="roundRect">
            <a:avLst>
              <a:gd name="adj" fmla="val 3755"/>
            </a:avLst>
          </a:prstGeom>
          <a:solidFill>
            <a:srgbClr val="BB86FC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04852" y="1381124"/>
            <a:ext cx="3581310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Questions? 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904852" y="1410942"/>
            <a:ext cx="266693" cy="22611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715" y="3096768"/>
            <a:ext cx="609584" cy="51206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628734" y="3848099"/>
            <a:ext cx="2133546" cy="3429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975"/>
              </a:spcAft>
            </a:pPr>
            <a:r>
              <a:rPr sz="1674" b="1">
                <a:solidFill>
                  <a:srgbClr val="E0E0E0"/>
                </a:solidFill>
              </a:rPr>
              <a:t>We're here to 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66793" y="4343400"/>
            <a:ext cx="2866953" cy="714375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CCCCCC"/>
                </a:solidFill>
              </a:rPr>
              <a:t>Feel free to ask any questions about UEFI security, the vulnerability, or mitigation strategies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10024" y="1143000"/>
            <a:ext cx="6514937" cy="5334000"/>
          </a:xfrm>
          <a:prstGeom prst="roundRect">
            <a:avLst>
              <a:gd name="adj" fmla="val 2857"/>
            </a:avLst>
          </a:prstGeom>
          <a:solidFill>
            <a:srgbClr val="03DAC6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48143" y="1381124"/>
            <a:ext cx="6038699" cy="2952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1300"/>
              </a:spcAft>
            </a:pPr>
            <a:r>
              <a:rPr sz="1435" b="1">
                <a:solidFill>
                  <a:srgbClr val="03DAC6"/>
                </a:solidFill>
              </a:rPr>
              <a:t> </a:t>
            </a:r>
            <a:r>
              <a:rPr sz="1104"/>
              <a:t>  </a:t>
            </a:r>
            <a:r>
              <a:rPr sz="1435" b="1">
                <a:solidFill>
                  <a:srgbClr val="03DAC6"/>
                </a:solidFill>
              </a:rPr>
              <a:t> Additional Resources 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48143" y="1410942"/>
            <a:ext cx="266693" cy="22611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48143" y="1884045"/>
            <a:ext cx="228594" cy="19430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619609" y="1866899"/>
            <a:ext cx="5667233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Video: "This Goes Deeper Than Your Operating System"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9609" y="2152650"/>
            <a:ext cx="566723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Deep dive into motherboard exploits and UEFI security by Low Level </a:t>
            </a:r>
            <a:r>
              <a:rPr sz="1104"/>
              <a:t>
</a:t>
            </a:r>
            <a:r>
              <a:rPr sz="1076" b="0">
                <a:solidFill>
                  <a:srgbClr val="CCCCCC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youtube.com/watch?v=BTjj1ILCwRs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248143" y="2836545"/>
            <a:ext cx="228594" cy="194309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5619609" y="2819399"/>
            <a:ext cx="5667233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Advisory: Binarly BRLY-2025-009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19609" y="3105149"/>
            <a:ext cx="566723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Technical analysis of the SMM memory corruption vulnerability </a:t>
            </a:r>
            <a:r>
              <a:rPr sz="1104"/>
              <a:t>
</a:t>
            </a:r>
            <a:r>
              <a:rPr sz="1076" b="0">
                <a:solidFill>
                  <a:srgbClr val="CCCCCC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binarly.io/advisories/brly-2025-009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248143" y="3787140"/>
            <a:ext cx="228594" cy="21717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619609" y="3781424"/>
            <a:ext cx="5667233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Microsoft: System Management Mode Deep Dive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19609" y="4067174"/>
            <a:ext cx="566723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How SMM isolation hardens the platform against attacks </a:t>
            </a:r>
            <a:r>
              <a:rPr sz="1104"/>
              <a:t>
</a:t>
            </a:r>
            <a:r>
              <a:rPr sz="1076" b="0">
                <a:solidFill>
                  <a:srgbClr val="CCCCCC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microsoft.com/security/blog/2020/11/12/smm-deep-dive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248143" y="4738211"/>
            <a:ext cx="228594" cy="2200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619609" y="4733925"/>
            <a:ext cx="5667233" cy="23812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spcBef>
                <a:spcPts val="0"/>
              </a:spcBef>
              <a:spcAft>
                <a:spcPts val="325"/>
              </a:spcAft>
            </a:pPr>
            <a:r>
              <a:rPr sz="1196" b="1">
                <a:solidFill>
                  <a:srgbClr val="E0E0E0"/>
                </a:solidFill>
              </a:rPr>
              <a:t>Tools: CHIPSEC Framework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19609" y="5019675"/>
            <a:ext cx="5667233" cy="4762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62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CCCCCC"/>
                </a:solidFill>
              </a:rPr>
              <a:t> Open-source platform security assessment framework </a:t>
            </a:r>
            <a:r>
              <a:rPr sz="1104"/>
              <a:t>
</a:t>
            </a:r>
            <a:r>
              <a:rPr sz="1076" b="0">
                <a:solidFill>
                  <a:srgbClr val="CCCCCC"/>
                </a:solidFill>
              </a:rPr>
              <a:t> </a:t>
            </a:r>
            <a:r>
              <a:rPr sz="1076" b="1">
                <a:solidFill>
                  <a:srgbClr val="03DAC6"/>
                </a:solidFill>
              </a:rPr>
              <a:t>github.com/chipsec/chipsec</a:t>
            </a:r>
            <a:r>
              <a:rPr sz="1076" b="0">
                <a:solidFill>
                  <a:srgbClr val="CCCCCC"/>
                </a:solidFill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3D97F2F5CC67443A04B20AD85191CE9" ma:contentTypeVersion="12" ma:contentTypeDescription="Create a new document." ma:contentTypeScope="" ma:versionID="66b0eb156f2f295bf6ced7838b3d0c02">
  <xsd:schema xmlns:xsd="http://www.w3.org/2001/XMLSchema" xmlns:xs="http://www.w3.org/2001/XMLSchema" xmlns:p="http://schemas.microsoft.com/office/2006/metadata/properties" xmlns:ns3="f1aa9d99-a3a0-4277-9591-b82dd28cfd5f" xmlns:ns4="2dac3f3a-6c8a-4daa-a95b-eaf516a0095b" targetNamespace="http://schemas.microsoft.com/office/2006/metadata/properties" ma:root="true" ma:fieldsID="28a451e3e7f71a0b56563530bab7de66" ns3:_="" ns4:_="">
    <xsd:import namespace="f1aa9d99-a3a0-4277-9591-b82dd28cfd5f"/>
    <xsd:import namespace="2dac3f3a-6c8a-4daa-a95b-eaf516a0095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aa9d99-a3a0-4277-9591-b82dd28cfd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ac3f3a-6c8a-4daa-a95b-eaf516a0095b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1aa9d99-a3a0-4277-9591-b82dd28cfd5f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69227B-D1AB-445C-AC63-775B76B4B3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1aa9d99-a3a0-4277-9591-b82dd28cfd5f"/>
    <ds:schemaRef ds:uri="2dac3f3a-6c8a-4daa-a95b-eaf516a0095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939C7BB-6F92-47CA-8850-03F0DE28D0D0}">
  <ds:schemaRefs>
    <ds:schemaRef ds:uri="http://schemas.openxmlformats.org/package/2006/metadata/core-properties"/>
    <ds:schemaRef ds:uri="http://purl.org/dc/terms/"/>
    <ds:schemaRef ds:uri="http://www.w3.org/XML/1998/namespace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purl.org/dc/dcmitype/"/>
    <ds:schemaRef ds:uri="http://schemas.microsoft.com/office/infopath/2007/PartnerControls"/>
    <ds:schemaRef ds:uri="2dac3f3a-6c8a-4daa-a95b-eaf516a0095b"/>
    <ds:schemaRef ds:uri="f1aa9d99-a3a0-4277-9591-b82dd28cfd5f"/>
  </ds:schemaRefs>
</ds:datastoreItem>
</file>

<file path=customXml/itemProps3.xml><?xml version="1.0" encoding="utf-8"?>
<ds:datastoreItem xmlns:ds="http://schemas.openxmlformats.org/officeDocument/2006/customXml" ds:itemID="{890022E1-0733-4EA2-93F0-11AFCD497A4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1554</Words>
  <Application>Microsoft Office PowerPoint</Application>
  <PresentationFormat>Widescreen</PresentationFormat>
  <Paragraphs>248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Jon Marien</dc:creator>
  <cp:keywords/>
  <dc:description>generated using python-pptx</dc:description>
  <cp:lastModifiedBy>Jonathan Marien</cp:lastModifiedBy>
  <cp:revision>3</cp:revision>
  <dcterms:created xsi:type="dcterms:W3CDTF">2013-01-27T09:14:16Z</dcterms:created>
  <dcterms:modified xsi:type="dcterms:W3CDTF">2025-08-29T22:35:23Z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0x01010023D97F2F5CC67443A04B20AD85191CE9</vt:lpwstr>
  </property>
</Properties>
</file>